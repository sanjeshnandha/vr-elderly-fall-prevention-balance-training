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0.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0.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5" r:id="rId26"/>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8dd35c7-b1d3-4a9b-4282-e8eb9407d5b1}">
          <p14:sldIdLst>
            <p14:sldId id="256"/>
            <p14:sldId id="257"/>
            <p14:sldId id="258"/>
            <p14:sldId id="259"/>
          </p14:sldIdLst>
        </p14:section>
        <p14:section name="Tasks" id="{1944dea6-8b7c-5bde-42bc-4e92730d809a}">
          <p14:sldIdLst>
            <p14:sldId id="260"/>
            <p14:sldId id="261"/>
            <p14:sldId id="262"/>
            <p14:sldId id="263"/>
            <p14:sldId id="264"/>
          </p14:sldIdLst>
        </p14:section>
        <p14:section name="Measurement" id="{816431f8-3371-1de4-39d2-9278231ff1be}">
          <p14:sldIdLst>
            <p14:sldId id="265"/>
            <p14:sldId id="266"/>
            <p14:sldId id="267"/>
          </p14:sldIdLst>
        </p14:section>
        <p14:section name="Engineering" id="{af126827-dbf2-4471-1d58-4523fec02c61}">
          <p14:sldIdLst>
            <p14:sldId id="268"/>
            <p14:sldId id="269"/>
            <p14:sldId id="270"/>
            <p14:sldId id="271"/>
            <p14:sldId id="272"/>
            <p14:sldId id="273"/>
          </p14:sldIdLst>
        </p14:section>
        <p14:section name="Close" id="{aa686fe5-f5ff-3a87-f9d7-6e864733e2ec}">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  <Relationship Id="rId26" Type="http://schemas.openxmlformats.org/officeDocument/2006/relationships/slide" Target="slides/slide20.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E3A42"/>
                </a:solidFill>
                <a:latin typeface="+mn-lt"/>
              </a:defRPr>
            </a:pPr>
            <a:r>
              <a:rPr sz="1500" b="0" i="0" u="none" strike="noStrike">
                <a:solidFill>
                  <a:srgbClr val="0E3A42"/>
                </a:solidFill>
                <a:latin typeface="+mn-lt"/>
              </a:rPr>
              <a:t>The overall score</a:t>
            </a:r>
          </a:p>
        </c:rich>
      </c:tx>
      <c:layout/>
      <c:overlay val="0"/>
    </c:title>
    <c:autoTitleDeleted val="0"/>
    <c:plotArea>
      <c:layout/>
      <c:doughnutChart>
        <c:varyColors val="1"/>
        <c:ser>
          <c:idx val="0"/>
          <c:order val="0"/>
          <c:tx>
            <c:strRef>
              <c:f>Sheet1!$B$1</c:f>
              <c:strCache>
                <c:ptCount val="1"/>
                <c:pt idx="0">
                  <c:v>Overall</c:v>
                </c:pt>
              </c:strCache>
            </c:strRef>
          </c:tx>
          <c:spPr>
            <a:solidFill>
              <a:schemeClr val="accent1"/>
            </a:solidFill>
            <a:ln w="9525" cap="flat">
              <a:solidFill>
                <a:srgbClr val="F9F9F9"/>
              </a:solidFill>
              <a:prstDash val="solid"/>
              <a:round/>
            </a:ln>
            <a:effectLst/>
          </c:spPr>
          <c:dPt>
            <c:idx val="0"/>
            <c:bubble3D val="0"/>
            <c:spPr>
              <a:solidFill>
                <a:srgbClr val="0E7C86"/>
              </a:solidFill>
              <a:effectLst/>
            </c:spPr>
          </c:dPt>
          <c:dPt>
            <c:idx val="1"/>
            <c:bubble3D val="0"/>
            <c:spPr>
              <a:solidFill>
                <a:srgbClr val="5A7A80"/>
              </a:solidFill>
              <a:effectLst/>
            </c:spPr>
          </c:dPt>
          <c:dPt>
            <c:idx val="2"/>
            <c:bubble3D val="0"/>
            <c:spPr>
              <a:solidFill>
                <a:srgbClr val="F2A93B"/>
              </a:solidFill>
              <a:effectLst/>
            </c:spPr>
          </c:dPt>
          <c:dLbls>
            <c:dLbl>
              <c:idx val="0"/>
              <c:numFmt formatCode="0&quot;%&quot;"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1"/>
              <c:numFmt formatCode="0&quot;%&quot;"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2"/>
              <c:numFmt formatCode="0&quot;%&quot;"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numFmt formatCode="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Hazard recognition</c:v>
                </c:pt>
                <c:pt idx="1">
                  <c:v>Handrail use</c:v>
                </c:pt>
                <c:pt idx="2">
                  <c:v>Balance</c:v>
                </c:pt>
              </c:strCache>
            </c:strRef>
          </c:cat>
          <c:val>
            <c:numRef>
              <c:f>Sheet1!$B$2:$B$4</c:f>
              <c:numCache>
                <c:ptCount val="3"/>
                <c:pt idx="0">
                  <c:v>50</c:v>
                </c:pt>
                <c:pt idx="1">
                  <c:v>30</c:v>
                </c:pt>
                <c:pt idx="2">
                  <c:v>20</c:v>
                </c:pt>
              </c:numCache>
            </c:numRef>
          </c:val>
        </c:ser>
        <c:firstSliceAng val="0"/>
        <c:holeSize val="52"/>
      </c:doughnutChart>
      <c:spPr>
        <a:noFill/>
        <a:ln>
          <a:noFill/>
        </a:ln>
        <a:effectLst/>
      </c:spPr>
    </c:plotArea>
    <c:legend>
      <c:legendPos val="b"/>
      <c:overlay val="0"/>
      <c:txPr>
        <a:bodyPr/>
        <a:lstStyle/>
        <a:p>
          <a:pPr>
            <a:defRPr sz="1100">
              <a:solidFill>
                <a:srgbClr val="0E3A4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in Godot 4.7 with OpenXR, about 13,700 lines of code. It runs in a headset, or on an ordinary laptop with a keyboard and mouse, so it can be shown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else in the build is there to measure these three habits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room opens off one 12 m hallway. The front door leads to a street with a zebra crossing, because a lot of falls happen outdoors.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3 and 4 are the newest. The rings are now judged on the path the person actually walked, and crossing the road is scored on its own, walked there and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total is counted from the room itself, so adding a new hazard updates the scoring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place where the software stops you. Everywhere else it watches and measures, but never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Walking into something counts even if you had already spotted it. The near miss is about noticing; this is about getting around. Judging the straight line between rings, rather than the path actually walked, used to hold a perfect room at 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balance score is a rough guide, not a medical measurement, and the screen says so. Cars brake for anyone in the road, measured from the bumper rather than the middle of the car, so standing in front of one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street is 60% dangers and 40% the walk along the pavement. Crossing the road is scored on its own: 65% the walk across, 35% the decision to step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numbers. The board updates itself as the session is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from reading, and from what is known about how VR affects people. That is reasoning, not proof: none of it has been tried with older adults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made by script: every object has softly rounded 18 mm edges, and each room builds its own skirting, coving, door frames and real windows cut into the walls.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 rate was also uncapped, so a thin laptop got hot and then slowed itself down the longer it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demonstrate it live — it runs on a laptop with keyboard and mouse, no headset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Night mode uses the same dangers and the same scoring — it is a change of lighting, not a second house, so a room is scored the same way in the dark as in daylight. All four of these came out of walking the build end to end in the headset.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A42"/>
        </a:solidFill>
      </p:bgPr>
    </p:bg>
    <p:spTree>
      <p:nvGrpSpPr>
        <p:cNvPr id="1" name=""/>
        <p:cNvGrpSpPr/>
        <p:nvPr/>
      </p:nvGrpSpPr>
      <p:grpSpPr>
        <a:xfrm>
          <a:off x="0" y="0"/>
          <a:ext cx="0" cy="0"/>
          <a:chOff x="0" y="0"/>
          <a:chExt cx="0" cy="0"/>
        </a:xfrm>
      </p:grpSpPr>
      <p:sp>
        <p:nvSpPr>
          <p:cNvPr id="2" name="Text 0"/>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8FB8BE"/>
                </a:solidFill>
              </a:rPr>
              <a:t>VR Fall-Prevention Training Simulator  ·  Team 20</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lstStyle>
            <a:lvl1pPr indent="0" marL="0">
              <a:buNone/>
              <a:defRPr lang="en-US" sz="3600" b="1" dirty="0">
                <a:solidFill>
                  <a:srgbClr val="0E3A42"/>
                </a:solidFill>
              </a:defRPr>
            </a:lvl1pPr>
          </a:lstStyle>
          <a:p>
            <a:pPr indent="0" marL="0">
              <a:buNone/>
            </a:pPr>
            <a:endParaRPr lang="en-US" sz="3600" dirty="0"/>
          </a:p>
        </p:txBody>
      </p:sp>
      <p:sp>
        <p:nvSpPr>
          <p:cNvPr id="3" name="Text 0"/>
          <p:cNvSpPr txBox="1"/>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5A7A80"/>
                </a:solidFill>
              </a:rPr>
              <a:t>VR Fall-Prevention Training Simulator  ·  Team 20</a:t>
            </a:r>
            <a:endParaRPr lang="en-US" sz="1000" dirty="0"/>
          </a:p>
        </p:txBody>
      </p:sp>
      <p:sp>
        <p:nvSpPr>
          <p:cNvPr id="25" name="Slide Number Placeholder 0"/>
          <p:cNvSpPr>
            <a:spLocks noGrp="1"/>
          </p:cNvSpPr>
          <p:nvPr>
            <p:ph type="sldNum" sz="quarter" idx="4294967295"/>
          </p:nvPr>
        </p:nvSpPr>
        <p:spPr>
          <a:xfrm>
            <a:off x="114300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7A8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7A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rb-1"/>
          <p:cNvSpPr/>
          <p:nvPr/>
        </p:nvSpPr>
        <p:spPr>
          <a:xfrm>
            <a:off x="8778240" y="-1371600"/>
            <a:ext cx="5669280" cy="5669280"/>
          </a:xfrm>
          <a:prstGeom prst="ellipse">
            <a:avLst/>
          </a:prstGeom>
          <a:solidFill>
            <a:srgbClr val="0E7C86">
              <a:alpha val="28000"/>
            </a:srgbClr>
          </a:solidFill>
          <a:ln w="12700">
            <a:solidFill>
              <a:srgbClr val="333333"/>
            </a:solidFill>
            <a:prstDash val="solid"/>
          </a:ln>
        </p:spPr>
      </p:sp>
      <p:sp>
        <p:nvSpPr>
          <p:cNvPr id="3" name="orb-2"/>
          <p:cNvSpPr/>
          <p:nvPr/>
        </p:nvSpPr>
        <p:spPr>
          <a:xfrm>
            <a:off x="10332720" y="3291840"/>
            <a:ext cx="3108960" cy="3108960"/>
          </a:xfrm>
          <a:prstGeom prst="ellipse">
            <a:avLst/>
          </a:prstGeom>
          <a:solidFill>
            <a:srgbClr val="F2A93B">
              <a:alpha val="18000"/>
            </a:srgbClr>
          </a:solidFill>
          <a:ln w="12700">
            <a:solidFill>
              <a:srgbClr val="333333"/>
            </a:solidFill>
            <a:prstDash val="solid"/>
          </a:ln>
        </p:spPr>
      </p:sp>
      <p:sp>
        <p:nvSpPr>
          <p:cNvPr id="4" name="Text 2"/>
          <p:cNvSpPr txBox="1"/>
          <p:nvPr/>
        </p:nvSpPr>
        <p:spPr>
          <a:xfrm>
            <a:off x="822960" y="1371600"/>
            <a:ext cx="7315200" cy="365760"/>
          </a:xfrm>
          <a:prstGeom prst="rect">
            <a:avLst/>
          </a:prstGeom>
          <a:noFill/>
          <a:ln/>
        </p:spPr>
        <p:txBody>
          <a:bodyPr wrap="square" lIns="0" tIns="0" rIns="0" bIns="0" rtlCol="0" anchor="ctr"/>
          <a:lstStyle/>
          <a:p>
            <a:pPr indent="0" marL="0">
              <a:buNone/>
            </a:pPr>
            <a:r>
              <a:rPr lang="en-US" sz="1400" b="1" spc="300" kern="0" dirty="0">
                <a:solidFill>
                  <a:srgbClr val="F2A93B"/>
                </a:solidFill>
              </a:rPr>
              <a:t>FINAL-YEAR PROJECT</a:t>
            </a:r>
            <a:endParaRPr lang="en-US" sz="1400" dirty="0"/>
          </a:p>
        </p:txBody>
      </p:sp>
      <p:sp>
        <p:nvSpPr>
          <p:cNvPr id="5" name="Text 3"/>
          <p:cNvSpPr txBox="1"/>
          <p:nvPr/>
        </p:nvSpPr>
        <p:spPr>
          <a:xfrm>
            <a:off x="822960" y="1828800"/>
            <a:ext cx="8412480" cy="1737360"/>
          </a:xfrm>
          <a:prstGeom prst="rect">
            <a:avLst/>
          </a:prstGeom>
          <a:noFill/>
          <a:ln/>
        </p:spPr>
        <p:txBody>
          <a:bodyPr wrap="square" lIns="0" tIns="0" rIns="0" bIns="0" rtlCol="0" anchor="ctr"/>
          <a:lstStyle/>
          <a:p>
            <a:pPr indent="0" marL="0">
              <a:lnSpc>
                <a:spcPct val="102000"/>
              </a:lnSpc>
              <a:buNone/>
            </a:pPr>
            <a:r>
              <a:rPr lang="en-US" sz="4400" b="1" dirty="0">
                <a:solidFill>
                  <a:srgbClr val="FFFFFF"/>
                </a:solidFill>
              </a:rPr>
              <a:t>A VR Fall-Prevention</a:t>
            </a:r>
            <a:endParaRPr lang="en-US" sz="4400" dirty="0"/>
          </a:p>
          <a:p>
            <a:pPr indent="0" marL="0">
              <a:lnSpc>
                <a:spcPct val="102000"/>
              </a:lnSpc>
              <a:buNone/>
            </a:pPr>
            <a:r>
              <a:rPr lang="en-US" sz="4400" b="1" dirty="0">
                <a:solidFill>
                  <a:srgbClr val="FFFFFF"/>
                </a:solidFill>
              </a:rPr>
              <a:t>Trainer for Older Adults</a:t>
            </a:r>
            <a:endParaRPr lang="en-US" sz="4400" dirty="0"/>
          </a:p>
        </p:txBody>
      </p:sp>
      <p:sp>
        <p:nvSpPr>
          <p:cNvPr id="6" name="Text 4"/>
          <p:cNvSpPr txBox="1"/>
          <p:nvPr/>
        </p:nvSpPr>
        <p:spPr>
          <a:xfrm>
            <a:off x="822960" y="3749040"/>
            <a:ext cx="7863840" cy="822960"/>
          </a:xfrm>
          <a:prstGeom prst="rect">
            <a:avLst/>
          </a:prstGeom>
          <a:noFill/>
          <a:ln/>
        </p:spPr>
        <p:txBody>
          <a:bodyPr wrap="square" lIns="0" tIns="0" rIns="0" bIns="0" rtlCol="0" anchor="ctr"/>
          <a:lstStyle/>
          <a:p>
            <a:pPr indent="0" marL="0">
              <a:lnSpc>
                <a:spcPct val="120000"/>
              </a:lnSpc>
              <a:buNone/>
            </a:pPr>
            <a:r>
              <a:rPr lang="en-US" sz="1600" dirty="0">
                <a:solidFill>
                  <a:srgbClr val="8FB8BE"/>
                </a:solidFill>
              </a:rPr>
              <a:t>Three habits that stop falls at home: seeing the danger, holding the rail, and getting across a room without bumping into anything.</a:t>
            </a:r>
            <a:endParaRPr lang="en-US" sz="1600" dirty="0"/>
          </a:p>
        </p:txBody>
      </p:sp>
      <p:sp>
        <p:nvSpPr>
          <p:cNvPr id="7" name="Text 5"/>
          <p:cNvSpPr txBox="1"/>
          <p:nvPr/>
        </p:nvSpPr>
        <p:spPr>
          <a:xfrm>
            <a:off x="822960" y="4663440"/>
            <a:ext cx="7315200" cy="1371600"/>
          </a:xfrm>
          <a:prstGeom prst="rect">
            <a:avLst/>
          </a:prstGeom>
          <a:noFill/>
          <a:ln/>
        </p:spPr>
        <p:txBody>
          <a:bodyPr wrap="square" lIns="0" tIns="0" rIns="0" bIns="0" rtlCol="0" anchor="ctr"/>
          <a:lstStyle/>
          <a:p>
            <a:pPr indent="0" marL="0">
              <a:buNone/>
            </a:pPr>
            <a:r>
              <a:rPr lang="en-US" sz="1400" b="1" dirty="0">
                <a:solidFill>
                  <a:srgbClr val="FFFFFF"/>
                </a:solidFill>
              </a:rPr>
              <a:t>Team 20</a:t>
            </a:r>
            <a:endParaRPr lang="en-US" sz="1400" dirty="0"/>
          </a:p>
          <a:p>
            <a:pPr indent="0" marL="0">
              <a:buNone/>
            </a:pPr>
            <a:r>
              <a:rPr lang="en-US" sz="1200" dirty="0">
                <a:solidFill>
                  <a:srgbClr val="FFFFFF"/>
                </a:solidFill>
              </a:rPr>
              <a:t>Sanjesh Nandha K  ·  CB.SC.U4CSE23242</a:t>
            </a:r>
            <a:endParaRPr lang="en-US" sz="1200" dirty="0"/>
          </a:p>
          <a:p>
            <a:pPr indent="0" marL="0">
              <a:buNone/>
            </a:pPr>
            <a:r>
              <a:rPr lang="en-US" sz="1200" dirty="0">
                <a:solidFill>
                  <a:srgbClr val="FFFFFF"/>
                </a:solidFill>
              </a:rPr>
              <a:t>Jeevan Raj K R  ·  CB.SC.U4CSE23262</a:t>
            </a:r>
            <a:endParaRPr lang="en-US" sz="1200" dirty="0"/>
          </a:p>
          <a:p>
            <a:pPr indent="0" marL="0">
              <a:buNone/>
            </a:pPr>
            <a:r>
              <a:rPr lang="en-US" sz="1200" dirty="0">
                <a:solidFill>
                  <a:srgbClr val="FFFFFF"/>
                </a:solidFill>
              </a:rPr>
              <a:t>Prasanth P M  ·  CB.SC.U4CSE23263</a:t>
            </a:r>
            <a:endParaRPr lang="en-US" sz="1200" dirty="0"/>
          </a:p>
          <a:p>
            <a:pPr indent="0" marL="0">
              <a:buNone/>
            </a:pPr>
            <a:r>
              <a:rPr lang="en-US" sz="1200" dirty="0">
                <a:solidFill>
                  <a:srgbClr val="FFFFFF"/>
                </a:solidFill>
              </a:rPr>
              <a:t>B.Tech CSE, Amrita Vishwa Vidyapeetham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indent="0" marL="0">
              <a:buNone/>
            </a:pPr>
            <a:r>
              <a:rPr lang="en-US" sz="3600" b="1" dirty="0">
                <a:solidFill>
                  <a:srgbClr val="0E3A42"/>
                </a:solidFill>
              </a:rPr>
              <a:t>Why this, and why in VR</a:t>
            </a:r>
            <a:endParaRPr lang="en-US" sz="3600" dirty="0"/>
          </a:p>
        </p:txBody>
      </p:sp>
      <p:sp>
        <p:nvSpPr>
          <p:cNvPr id="3" name="Text 1"/>
          <p:cNvSpPr txBox="1"/>
          <p:nvPr/>
        </p:nvSpPr>
        <p:spPr>
          <a:xfrm>
            <a:off x="548640" y="1325880"/>
            <a:ext cx="5486400" cy="2194560"/>
          </a:xfrm>
          <a:prstGeom prst="rect">
            <a:avLst/>
          </a:prstGeom>
          <a:noFill/>
          <a:ln/>
        </p:spPr>
        <p:txBody>
          <a:bodyPr wrap="square" lIns="0" tIns="0" rIns="0" bIns="0" rtlCol="0" anchor="t"/>
          <a:lstStyle/>
          <a:p>
            <a:pPr indent="0" marL="0">
              <a:lnSpc>
                <a:spcPct val="115000"/>
              </a:lnSpc>
              <a:buNone/>
            </a:pPr>
            <a:r>
              <a:rPr lang="en-US" sz="1450" dirty="0">
                <a:solidFill>
                  <a:schemeClr val="tx1"/>
                </a:solidFill>
              </a:rPr>
              <a:t>Falls hurt more older people than anything else, and most happen at home, in rooms they have lived in for years. The dangers are ordinary ones: a wire across the floor, a mat that slips, a light too dim to see a step by.</a:t>
            </a:r>
            <a:endParaRPr lang="en-US" sz="1450" dirty="0"/>
          </a:p>
          <a:p>
            <a:pPr indent="0" marL="0">
              <a:lnSpc>
                <a:spcPct val="115000"/>
              </a:lnSpc>
              <a:buNone/>
            </a:pPr>
            <a:endParaRPr lang="en-US" sz="1450" dirty="0"/>
          </a:p>
          <a:p>
            <a:pPr indent="0" marL="0">
              <a:lnSpc>
                <a:spcPct val="115000"/>
              </a:lnSpc>
              <a:buNone/>
            </a:pPr>
            <a:r>
              <a:rPr lang="en-US" sz="1450" dirty="0">
                <a:solidFill>
                  <a:schemeClr val="tx1"/>
                </a:solidFill>
              </a:rPr>
              <a:t>A leaflet can list them. It cannot put someone in the room and ask them to find them.</a:t>
            </a:r>
            <a:endParaRPr lang="en-US" sz="1450" dirty="0"/>
          </a:p>
        </p:txBody>
      </p:sp>
      <p:sp>
        <p:nvSpPr>
          <p:cNvPr id="4" name="Text 2"/>
          <p:cNvSpPr txBox="1"/>
          <p:nvPr/>
        </p:nvSpPr>
        <p:spPr>
          <a:xfrm>
            <a:off x="548640" y="3749040"/>
            <a:ext cx="5486400" cy="310896"/>
          </a:xfrm>
          <a:prstGeom prst="rect">
            <a:avLst/>
          </a:prstGeom>
          <a:noFill/>
          <a:ln/>
        </p:spPr>
        <p:txBody>
          <a:bodyPr wrap="square" lIns="0" tIns="0" rIns="0" bIns="0" rtlCol="0" anchor="ctr"/>
          <a:lstStyle/>
          <a:p>
            <a:pPr indent="0" marL="0">
              <a:buNone/>
            </a:pPr>
            <a:r>
              <a:rPr lang="en-US" sz="1900" b="1" dirty="0">
                <a:solidFill>
                  <a:schemeClr val="tx2"/>
                </a:solidFill>
              </a:rPr>
              <a:t>What VR adds</a:t>
            </a:r>
            <a:endParaRPr lang="en-US" sz="1900" dirty="0"/>
          </a:p>
        </p:txBody>
      </p:sp>
      <p:sp>
        <p:nvSpPr>
          <p:cNvPr id="5" name="Text 3"/>
          <p:cNvSpPr txBox="1"/>
          <p:nvPr/>
        </p:nvSpPr>
        <p:spPr>
          <a:xfrm>
            <a:off x="548640" y="4160520"/>
            <a:ext cx="5486400" cy="173736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1"/>
                </a:solidFill>
              </a:rPr>
              <a:t>They practise in a real-looking room, and cannot actually fall</a:t>
            </a:r>
            <a:endParaRPr lang="en-US" sz="1450" dirty="0"/>
          </a:p>
          <a:p>
            <a:pPr marL="342900" indent="-342900">
              <a:spcAft>
                <a:spcPts val="700"/>
              </a:spcAft>
              <a:buSzPct val="100000"/>
              <a:buChar char="•"/>
            </a:pPr>
            <a:r>
              <a:rPr lang="en-US" sz="1450" dirty="0">
                <a:solidFill>
                  <a:schemeClr val="tx1"/>
                </a:solidFill>
              </a:rPr>
              <a:t>We can watch what they do, not just ask what they know</a:t>
            </a:r>
            <a:endParaRPr lang="en-US" sz="1450" dirty="0"/>
          </a:p>
          <a:p>
            <a:pPr marL="342900" indent="-342900">
              <a:spcAft>
                <a:spcPts val="700"/>
              </a:spcAft>
              <a:buSzPct val="100000"/>
              <a:buChar char="•"/>
            </a:pPr>
            <a:r>
              <a:rPr lang="en-US" sz="1450" dirty="0">
                <a:solidFill>
                  <a:schemeClr val="tx1"/>
                </a:solidFill>
              </a:rPr>
              <a:t>It is the same house every time, so you can see them improve</a:t>
            </a:r>
            <a:endParaRPr lang="en-US" sz="1450" dirty="0"/>
          </a:p>
        </p:txBody>
      </p:sp>
      <p:sp>
        <p:nvSpPr>
          <p:cNvPr id="6" name="card-3"/>
          <p:cNvSpPr/>
          <p:nvPr/>
        </p:nvSpPr>
        <p:spPr>
          <a:xfrm>
            <a:off x="6675120" y="1417320"/>
            <a:ext cx="4937760" cy="1325880"/>
          </a:xfrm>
          <a:prstGeom prst="roundRect">
            <a:avLst>
              <a:gd name="adj" fmla="val 6897"/>
            </a:avLst>
          </a:prstGeom>
          <a:solidFill>
            <a:srgbClr val="EEF3F4"/>
          </a:solidFill>
          <a:ln w="12700">
            <a:solidFill>
              <a:srgbClr val="FFFFFF"/>
            </a:solidFill>
            <a:prstDash val="solid"/>
          </a:ln>
        </p:spPr>
      </p:sp>
      <p:sp>
        <p:nvSpPr>
          <p:cNvPr id="7" name="chip-4"/>
          <p:cNvSpPr/>
          <p:nvPr/>
        </p:nvSpPr>
        <p:spPr>
          <a:xfrm>
            <a:off x="6995160" y="1874520"/>
            <a:ext cx="420624" cy="420624"/>
          </a:xfrm>
          <a:prstGeom prst="ellipse">
            <a:avLst/>
          </a:prstGeom>
          <a:solidFill>
            <a:srgbClr val="0E7C86"/>
          </a:solidFill>
          <a:ln w="12700">
            <a:solidFill>
              <a:srgbClr val="333333"/>
            </a:solidFill>
            <a:prstDash val="solid"/>
          </a:ln>
        </p:spPr>
      </p:sp>
      <p:sp>
        <p:nvSpPr>
          <p:cNvPr id="8" name="Text 6"/>
          <p:cNvSpPr txBox="1"/>
          <p:nvPr/>
        </p:nvSpPr>
        <p:spPr>
          <a:xfrm>
            <a:off x="6995160" y="18745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txBox="1"/>
          <p:nvPr/>
        </p:nvSpPr>
        <p:spPr>
          <a:xfrm>
            <a:off x="7589520" y="1691640"/>
            <a:ext cx="3840480" cy="365760"/>
          </a:xfrm>
          <a:prstGeom prst="rect">
            <a:avLst/>
          </a:prstGeom>
          <a:noFill/>
          <a:ln/>
        </p:spPr>
        <p:txBody>
          <a:bodyPr wrap="square" lIns="0" tIns="0" rIns="0" bIns="0" rtlCol="0" anchor="ctr"/>
          <a:lstStyle/>
          <a:p>
            <a:pPr indent="0" marL="0">
              <a:buNone/>
            </a:pPr>
            <a:r>
              <a:rPr lang="en-US" sz="2000" b="1" dirty="0">
                <a:solidFill>
                  <a:srgbClr val="0E7C86"/>
                </a:solidFill>
              </a:rPr>
              <a:t>Spot </a:t>
            </a:r>
            <a:pPr indent="0" marL="0">
              <a:buNone/>
            </a:pPr>
            <a:r>
              <a:rPr lang="en-US" sz="2000" b="1" dirty="0">
                <a:solidFill>
                  <a:srgbClr val="0E3A42"/>
                </a:solidFill>
              </a:rPr>
              <a:t>the hazard</a:t>
            </a:r>
            <a:endParaRPr lang="en-US" sz="2000" dirty="0"/>
          </a:p>
        </p:txBody>
      </p:sp>
      <p:sp>
        <p:nvSpPr>
          <p:cNvPr id="10" name="Text 8"/>
          <p:cNvSpPr txBox="1"/>
          <p:nvPr/>
        </p:nvSpPr>
        <p:spPr>
          <a:xfrm>
            <a:off x="7589520" y="2075688"/>
            <a:ext cx="3840480" cy="548640"/>
          </a:xfrm>
          <a:prstGeom prst="rect">
            <a:avLst/>
          </a:prstGeom>
          <a:noFill/>
          <a:ln/>
        </p:spPr>
        <p:txBody>
          <a:bodyPr wrap="square" lIns="0" tIns="0" rIns="0" bIns="0" rtlCol="0" anchor="ctr"/>
          <a:lstStyle/>
          <a:p>
            <a:pPr indent="0" marL="0">
              <a:buNone/>
            </a:pPr>
            <a:r>
              <a:rPr lang="en-US" sz="1250" dirty="0">
                <a:solidFill>
                  <a:schemeClr val="tx2"/>
                </a:solidFill>
              </a:rPr>
              <a:t>Point at anything that could trip them and press the trigger</a:t>
            </a:r>
            <a:endParaRPr lang="en-US" sz="1250" dirty="0"/>
          </a:p>
        </p:txBody>
      </p:sp>
      <p:sp>
        <p:nvSpPr>
          <p:cNvPr id="11" name="card-5"/>
          <p:cNvSpPr/>
          <p:nvPr/>
        </p:nvSpPr>
        <p:spPr>
          <a:xfrm>
            <a:off x="6675120" y="2971800"/>
            <a:ext cx="4937760" cy="1325880"/>
          </a:xfrm>
          <a:prstGeom prst="roundRect">
            <a:avLst>
              <a:gd name="adj" fmla="val 6897"/>
            </a:avLst>
          </a:prstGeom>
          <a:solidFill>
            <a:srgbClr val="EEF3F4"/>
          </a:solidFill>
          <a:ln w="12700">
            <a:solidFill>
              <a:srgbClr val="FFFFFF"/>
            </a:solidFill>
            <a:prstDash val="solid"/>
          </a:ln>
        </p:spPr>
      </p:sp>
      <p:sp>
        <p:nvSpPr>
          <p:cNvPr id="12" name="chip-6"/>
          <p:cNvSpPr/>
          <p:nvPr/>
        </p:nvSpPr>
        <p:spPr>
          <a:xfrm>
            <a:off x="6995160" y="3429000"/>
            <a:ext cx="420624" cy="420624"/>
          </a:xfrm>
          <a:prstGeom prst="ellipse">
            <a:avLst/>
          </a:prstGeom>
          <a:solidFill>
            <a:srgbClr val="0E7C86"/>
          </a:solidFill>
          <a:ln w="12700">
            <a:solidFill>
              <a:srgbClr val="333333"/>
            </a:solidFill>
            <a:prstDash val="solid"/>
          </a:ln>
        </p:spPr>
      </p:sp>
      <p:sp>
        <p:nvSpPr>
          <p:cNvPr id="13" name="Text 11"/>
          <p:cNvSpPr txBox="1"/>
          <p:nvPr/>
        </p:nvSpPr>
        <p:spPr>
          <a:xfrm>
            <a:off x="6995160" y="34290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4" name="Text 12"/>
          <p:cNvSpPr txBox="1"/>
          <p:nvPr/>
        </p:nvSpPr>
        <p:spPr>
          <a:xfrm>
            <a:off x="7589520" y="3246120"/>
            <a:ext cx="3840480" cy="365760"/>
          </a:xfrm>
          <a:prstGeom prst="rect">
            <a:avLst/>
          </a:prstGeom>
          <a:noFill/>
          <a:ln/>
        </p:spPr>
        <p:txBody>
          <a:bodyPr wrap="square" lIns="0" tIns="0" rIns="0" bIns="0" rtlCol="0" anchor="ctr"/>
          <a:lstStyle/>
          <a:p>
            <a:pPr indent="0" marL="0">
              <a:buNone/>
            </a:pPr>
            <a:r>
              <a:rPr lang="en-US" sz="2000" b="1" dirty="0">
                <a:solidFill>
                  <a:srgbClr val="0E7C86"/>
                </a:solidFill>
              </a:rPr>
              <a:t>Hold </a:t>
            </a:r>
            <a:pPr indent="0" marL="0">
              <a:buNone/>
            </a:pPr>
            <a:r>
              <a:rPr lang="en-US" sz="2000" b="1" dirty="0">
                <a:solidFill>
                  <a:srgbClr val="0E3A42"/>
                </a:solidFill>
              </a:rPr>
              <a:t>the rail</a:t>
            </a:r>
            <a:endParaRPr lang="en-US" sz="2000" dirty="0"/>
          </a:p>
        </p:txBody>
      </p:sp>
      <p:sp>
        <p:nvSpPr>
          <p:cNvPr id="15" name="Text 13"/>
          <p:cNvSpPr txBox="1"/>
          <p:nvPr/>
        </p:nvSpPr>
        <p:spPr>
          <a:xfrm>
            <a:off x="7589520" y="3630168"/>
            <a:ext cx="3840480" cy="548640"/>
          </a:xfrm>
          <a:prstGeom prst="rect">
            <a:avLst/>
          </a:prstGeom>
          <a:noFill/>
          <a:ln/>
        </p:spPr>
        <p:txBody>
          <a:bodyPr wrap="square" lIns="0" tIns="0" rIns="0" bIns="0" rtlCol="0" anchor="ctr"/>
          <a:lstStyle/>
          <a:p>
            <a:pPr indent="0" marL="0">
              <a:buNone/>
            </a:pPr>
            <a:r>
              <a:rPr lang="en-US" sz="1250" dirty="0">
                <a:solidFill>
                  <a:schemeClr val="tx2"/>
                </a:solidFill>
              </a:rPr>
              <a:t>We measure how much of the stairs they held on for</a:t>
            </a:r>
            <a:endParaRPr lang="en-US" sz="1250" dirty="0"/>
          </a:p>
        </p:txBody>
      </p:sp>
      <p:sp>
        <p:nvSpPr>
          <p:cNvPr id="16" name="card-7"/>
          <p:cNvSpPr/>
          <p:nvPr/>
        </p:nvSpPr>
        <p:spPr>
          <a:xfrm>
            <a:off x="6675120" y="4526280"/>
            <a:ext cx="4937760" cy="1325880"/>
          </a:xfrm>
          <a:prstGeom prst="roundRect">
            <a:avLst>
              <a:gd name="adj" fmla="val 6897"/>
            </a:avLst>
          </a:prstGeom>
          <a:solidFill>
            <a:srgbClr val="EEF3F4"/>
          </a:solidFill>
          <a:ln w="12700">
            <a:solidFill>
              <a:srgbClr val="FFFFFF"/>
            </a:solidFill>
            <a:prstDash val="solid"/>
          </a:ln>
        </p:spPr>
      </p:sp>
      <p:sp>
        <p:nvSpPr>
          <p:cNvPr id="17" name="chip-8"/>
          <p:cNvSpPr/>
          <p:nvPr/>
        </p:nvSpPr>
        <p:spPr>
          <a:xfrm>
            <a:off x="6995160" y="4983480"/>
            <a:ext cx="420624" cy="420624"/>
          </a:xfrm>
          <a:prstGeom prst="ellipse">
            <a:avLst/>
          </a:prstGeom>
          <a:solidFill>
            <a:srgbClr val="0E7C86"/>
          </a:solidFill>
          <a:ln w="12700">
            <a:solidFill>
              <a:srgbClr val="333333"/>
            </a:solidFill>
            <a:prstDash val="solid"/>
          </a:ln>
        </p:spPr>
      </p:sp>
      <p:sp>
        <p:nvSpPr>
          <p:cNvPr id="18" name="Text 16"/>
          <p:cNvSpPr txBox="1"/>
          <p:nvPr/>
        </p:nvSpPr>
        <p:spPr>
          <a:xfrm>
            <a:off x="6995160" y="49834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9" name="Text 17"/>
          <p:cNvSpPr txBox="1"/>
          <p:nvPr/>
        </p:nvSpPr>
        <p:spPr>
          <a:xfrm>
            <a:off x="7589520" y="4800600"/>
            <a:ext cx="3840480" cy="365760"/>
          </a:xfrm>
          <a:prstGeom prst="rect">
            <a:avLst/>
          </a:prstGeom>
          <a:noFill/>
          <a:ln/>
        </p:spPr>
        <p:txBody>
          <a:bodyPr wrap="square" lIns="0" tIns="0" rIns="0" bIns="0" rtlCol="0" anchor="ctr"/>
          <a:lstStyle/>
          <a:p>
            <a:pPr indent="0" marL="0">
              <a:buNone/>
            </a:pPr>
            <a:r>
              <a:rPr lang="en-US" sz="2000" b="1" dirty="0">
                <a:solidFill>
                  <a:srgbClr val="0E7C86"/>
                </a:solidFill>
              </a:rPr>
              <a:t>Cross </a:t>
            </a:r>
            <a:pPr indent="0" marL="0">
              <a:buNone/>
            </a:pPr>
            <a:r>
              <a:rPr lang="en-US" sz="2000" b="1" dirty="0">
                <a:solidFill>
                  <a:srgbClr val="0E3A42"/>
                </a:solidFill>
              </a:rPr>
              <a:t>the room</a:t>
            </a:r>
            <a:endParaRPr lang="en-US" sz="2000" dirty="0"/>
          </a:p>
        </p:txBody>
      </p:sp>
      <p:sp>
        <p:nvSpPr>
          <p:cNvPr id="20" name="Text 18"/>
          <p:cNvSpPr txBox="1"/>
          <p:nvPr/>
        </p:nvSpPr>
        <p:spPr>
          <a:xfrm>
            <a:off x="7589520" y="5184648"/>
            <a:ext cx="3840480" cy="548640"/>
          </a:xfrm>
          <a:prstGeom prst="rect">
            <a:avLst/>
          </a:prstGeom>
          <a:noFill/>
          <a:ln/>
        </p:spPr>
        <p:txBody>
          <a:bodyPr wrap="square" lIns="0" tIns="0" rIns="0" bIns="0" rtlCol="0" anchor="ctr"/>
          <a:lstStyle/>
          <a:p>
            <a:pPr indent="0" marL="0">
              <a:buNone/>
            </a:pPr>
            <a:r>
              <a:rPr lang="en-US" sz="1250" dirty="0">
                <a:solidFill>
                  <a:schemeClr val="tx2"/>
                </a:solidFill>
              </a:rPr>
              <a:t>Step on each ring without walking into anything unsafe</a:t>
            </a:r>
            <a:endParaRPr lang="en-US" sz="1250" dirty="0"/>
          </a:p>
        </p:txBody>
      </p:sp>
      <p:sp>
        <p:nvSpPr>
          <p:cNvPr id="25" name="Slide Number Placeholder 0"/>
          <p:cNvSpPr>
            <a:spLocks noGrp="1"/>
          </p:cNvSpPr>
          <p:nvPr>
            <p:ph type="sldNum" sz="quarter" idx="4294967295"/>
          </p:nvPr>
        </p:nvSpPr>
        <p:spPr>
          <a:xfrm>
            <a:off x="114300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7A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indent="0" marL="0">
              <a:buNone/>
            </a:pPr>
            <a:r>
              <a:rPr lang="en-US" sz="3600" b="1" dirty="0">
                <a:solidFill>
                  <a:srgbClr val="0E3A42"/>
                </a:solidFill>
              </a:rPr>
              <a:t>One house, seven spaces, all built to real size</a:t>
            </a:r>
            <a:endParaRPr lang="en-US" sz="3600" dirty="0"/>
          </a:p>
        </p:txBody>
      </p:sp>
      <p:sp>
        <p:nvSpPr>
          <p:cNvPr id="3" name="Text 1"/>
          <p:cNvSpPr txBox="1"/>
          <p:nvPr/>
        </p:nvSpPr>
        <p:spPr>
          <a:xfrm>
            <a:off x="548640" y="1325880"/>
            <a:ext cx="5852160" cy="1371600"/>
          </a:xfrm>
          <a:prstGeom prst="rect">
            <a:avLst/>
          </a:prstGeom>
          <a:noFill/>
          <a:ln/>
        </p:spPr>
        <p:txBody>
          <a:bodyPr wrap="square" lIns="0" tIns="0" rIns="0" bIns="0" rtlCol="0" anchor="t"/>
          <a:lstStyle/>
          <a:p>
            <a:pPr indent="0" marL="0">
              <a:lnSpc>
                <a:spcPct val="115000"/>
              </a:lnSpc>
              <a:buNone/>
            </a:pPr>
            <a:r>
              <a:rPr lang="en-US" sz="1450" dirty="0">
                <a:solidFill>
                  <a:schemeClr val="tx1"/>
                </a:solidFill>
              </a:rPr>
              <a:t>Everything is at real size. Ceilings 2.4 m, doorways 0.9 m wide, each stair step 19 cm high. Size matters more than how pretty it looks: a doorway even half a metre too wide teaches the wrong sense of space, and judging space is the whole point.</a:t>
            </a:r>
            <a:endParaRPr lang="en-US" sz="1450" dirty="0"/>
          </a:p>
        </p:txBody>
      </p:sp>
      <p:sp>
        <p:nvSpPr>
          <p:cNvPr id="4" name="Text 2"/>
          <p:cNvSpPr txBox="1"/>
          <p:nvPr/>
        </p:nvSpPr>
        <p:spPr>
          <a:xfrm>
            <a:off x="548640" y="2926080"/>
            <a:ext cx="868680" cy="457200"/>
          </a:xfrm>
          <a:prstGeom prst="rect">
            <a:avLst/>
          </a:prstGeom>
          <a:noFill/>
          <a:ln/>
        </p:spPr>
        <p:txBody>
          <a:bodyPr wrap="square" lIns="0" tIns="0" rIns="0" bIns="0" rtlCol="0" anchor="ctr"/>
          <a:lstStyle/>
          <a:p>
            <a:pPr algn="r" indent="0" marL="0">
              <a:buNone/>
            </a:pPr>
            <a:r>
              <a:rPr lang="en-US" sz="2600" b="1" dirty="0">
                <a:solidFill>
                  <a:srgbClr val="F2A93B"/>
                </a:solidFill>
              </a:rPr>
              <a:t>27</a:t>
            </a:r>
            <a:endParaRPr lang="en-US" sz="2600" dirty="0"/>
          </a:p>
        </p:txBody>
      </p:sp>
      <p:sp>
        <p:nvSpPr>
          <p:cNvPr id="5" name="Text 3"/>
          <p:cNvSpPr txBox="1"/>
          <p:nvPr/>
        </p:nvSpPr>
        <p:spPr>
          <a:xfrm>
            <a:off x="1554480" y="2990088"/>
            <a:ext cx="4572000" cy="365760"/>
          </a:xfrm>
          <a:prstGeom prst="rect">
            <a:avLst/>
          </a:prstGeom>
          <a:noFill/>
          <a:ln/>
        </p:spPr>
        <p:txBody>
          <a:bodyPr wrap="square" lIns="0" tIns="0" rIns="0" bIns="0" rtlCol="0" anchor="ctr"/>
          <a:lstStyle/>
          <a:p>
            <a:pPr indent="0" marL="0">
              <a:buNone/>
            </a:pPr>
            <a:r>
              <a:rPr lang="en-US" sz="1450" dirty="0">
                <a:solidFill>
                  <a:schemeClr val="tx1"/>
                </a:solidFill>
              </a:rPr>
              <a:t>real dangers to find</a:t>
            </a:r>
            <a:endParaRPr lang="en-US" sz="1450" dirty="0"/>
          </a:p>
        </p:txBody>
      </p:sp>
      <p:sp>
        <p:nvSpPr>
          <p:cNvPr id="6" name="Text 4"/>
          <p:cNvSpPr txBox="1"/>
          <p:nvPr/>
        </p:nvSpPr>
        <p:spPr>
          <a:xfrm>
            <a:off x="548640" y="3639312"/>
            <a:ext cx="868680" cy="457200"/>
          </a:xfrm>
          <a:prstGeom prst="rect">
            <a:avLst/>
          </a:prstGeom>
          <a:noFill/>
          <a:ln/>
        </p:spPr>
        <p:txBody>
          <a:bodyPr wrap="square" lIns="0" tIns="0" rIns="0" bIns="0" rtlCol="0" anchor="ctr"/>
          <a:lstStyle/>
          <a:p>
            <a:pPr algn="r" indent="0" marL="0">
              <a:buNone/>
            </a:pPr>
            <a:r>
              <a:rPr lang="en-US" sz="2600" b="1" dirty="0">
                <a:solidFill>
                  <a:srgbClr val="F2A93B"/>
                </a:solidFill>
              </a:rPr>
              <a:t>7</a:t>
            </a:r>
            <a:endParaRPr lang="en-US" sz="2600" dirty="0"/>
          </a:p>
        </p:txBody>
      </p:sp>
      <p:sp>
        <p:nvSpPr>
          <p:cNvPr id="7" name="Text 5"/>
          <p:cNvSpPr txBox="1"/>
          <p:nvPr/>
        </p:nvSpPr>
        <p:spPr>
          <a:xfrm>
            <a:off x="1554480" y="3703320"/>
            <a:ext cx="4572000" cy="365760"/>
          </a:xfrm>
          <a:prstGeom prst="rect">
            <a:avLst/>
          </a:prstGeom>
          <a:noFill/>
          <a:ln/>
        </p:spPr>
        <p:txBody>
          <a:bodyPr wrap="square" lIns="0" tIns="0" rIns="0" bIns="0" rtlCol="0" anchor="ctr"/>
          <a:lstStyle/>
          <a:p>
            <a:pPr indent="0" marL="0">
              <a:buNone/>
            </a:pPr>
            <a:r>
              <a:rPr lang="en-US" sz="1450" dirty="0">
                <a:solidFill>
                  <a:schemeClr val="tx1"/>
                </a:solidFill>
              </a:rPr>
              <a:t>safe things, put there on purpose</a:t>
            </a:r>
            <a:endParaRPr lang="en-US" sz="1450" dirty="0"/>
          </a:p>
        </p:txBody>
      </p:sp>
      <p:sp>
        <p:nvSpPr>
          <p:cNvPr id="8" name="Text 6"/>
          <p:cNvSpPr txBox="1"/>
          <p:nvPr/>
        </p:nvSpPr>
        <p:spPr>
          <a:xfrm>
            <a:off x="548640" y="4352544"/>
            <a:ext cx="868680" cy="457200"/>
          </a:xfrm>
          <a:prstGeom prst="rect">
            <a:avLst/>
          </a:prstGeom>
          <a:noFill/>
          <a:ln/>
        </p:spPr>
        <p:txBody>
          <a:bodyPr wrap="square" lIns="0" tIns="0" rIns="0" bIns="0" rtlCol="0" anchor="ctr"/>
          <a:lstStyle/>
          <a:p>
            <a:pPr algn="r" indent="0" marL="0">
              <a:buNone/>
            </a:pPr>
            <a:r>
              <a:rPr lang="en-US" sz="2600" b="1" dirty="0">
                <a:solidFill>
                  <a:srgbClr val="F2A93B"/>
                </a:solidFill>
              </a:rPr>
              <a:t>15</a:t>
            </a:r>
            <a:endParaRPr lang="en-US" sz="2600" dirty="0"/>
          </a:p>
        </p:txBody>
      </p:sp>
      <p:sp>
        <p:nvSpPr>
          <p:cNvPr id="9" name="Text 7"/>
          <p:cNvSpPr txBox="1"/>
          <p:nvPr/>
        </p:nvSpPr>
        <p:spPr>
          <a:xfrm>
            <a:off x="1554480" y="4416552"/>
            <a:ext cx="4572000" cy="365760"/>
          </a:xfrm>
          <a:prstGeom prst="rect">
            <a:avLst/>
          </a:prstGeom>
          <a:noFill/>
          <a:ln/>
        </p:spPr>
        <p:txBody>
          <a:bodyPr wrap="square" lIns="0" tIns="0" rIns="0" bIns="0" rtlCol="0" anchor="ctr"/>
          <a:lstStyle/>
          <a:p>
            <a:pPr indent="0" marL="0">
              <a:buNone/>
            </a:pPr>
            <a:r>
              <a:rPr lang="en-US" sz="1450" dirty="0">
                <a:solidFill>
                  <a:schemeClr val="tx1"/>
                </a:solidFill>
              </a:rPr>
              <a:t>danger patches on the floor</a:t>
            </a:r>
            <a:endParaRPr lang="en-US" sz="1450" dirty="0"/>
          </a:p>
        </p:txBody>
      </p:sp>
      <p:sp>
        <p:nvSpPr>
          <p:cNvPr id="10" name="Text 8"/>
          <p:cNvSpPr txBox="1"/>
          <p:nvPr/>
        </p:nvSpPr>
        <p:spPr>
          <a:xfrm>
            <a:off x="548640" y="5065776"/>
            <a:ext cx="868680" cy="457200"/>
          </a:xfrm>
          <a:prstGeom prst="rect">
            <a:avLst/>
          </a:prstGeom>
          <a:noFill/>
          <a:ln/>
        </p:spPr>
        <p:txBody>
          <a:bodyPr wrap="square" lIns="0" tIns="0" rIns="0" bIns="0" rtlCol="0" anchor="ctr"/>
          <a:lstStyle/>
          <a:p>
            <a:pPr algn="r" indent="0" marL="0">
              <a:buNone/>
            </a:pPr>
            <a:r>
              <a:rPr lang="en-US" sz="2600" b="1" dirty="0">
                <a:solidFill>
                  <a:srgbClr val="F2A93B"/>
                </a:solidFill>
              </a:rPr>
              <a:t>26</a:t>
            </a:r>
            <a:endParaRPr lang="en-US" sz="2600" dirty="0"/>
          </a:p>
        </p:txBody>
      </p:sp>
      <p:sp>
        <p:nvSpPr>
          <p:cNvPr id="11" name="Text 9"/>
          <p:cNvSpPr txBox="1"/>
          <p:nvPr/>
        </p:nvSpPr>
        <p:spPr>
          <a:xfrm>
            <a:off x="1554480" y="5129784"/>
            <a:ext cx="4572000" cy="365760"/>
          </a:xfrm>
          <a:prstGeom prst="rect">
            <a:avLst/>
          </a:prstGeom>
          <a:noFill/>
          <a:ln/>
        </p:spPr>
        <p:txBody>
          <a:bodyPr wrap="square" lIns="0" tIns="0" rIns="0" bIns="0" rtlCol="0" anchor="ctr"/>
          <a:lstStyle/>
          <a:p>
            <a:pPr indent="0" marL="0">
              <a:buNone/>
            </a:pPr>
            <a:r>
              <a:rPr lang="en-US" sz="1450" dirty="0">
                <a:solidFill>
                  <a:schemeClr val="tx1"/>
                </a:solidFill>
              </a:rPr>
              <a:t>walks to get right, in and out</a:t>
            </a:r>
            <a:endParaRPr lang="en-US" sz="1450" dirty="0"/>
          </a:p>
        </p:txBody>
      </p:sp>
      <p:sp>
        <p:nvSpPr>
          <p:cNvPr id="12" name="room-9"/>
          <p:cNvSpPr/>
          <p:nvPr/>
        </p:nvSpPr>
        <p:spPr>
          <a:xfrm>
            <a:off x="6903720" y="1600200"/>
            <a:ext cx="1042416" cy="1289304"/>
          </a:xfrm>
          <a:prstGeom prst="rect">
            <a:avLst/>
          </a:prstGeom>
          <a:solidFill>
            <a:srgbClr val="EEF3F4"/>
          </a:solidFill>
          <a:ln w="12700">
            <a:solidFill>
              <a:srgbClr val="5A7A80"/>
            </a:solidFill>
            <a:prstDash val="solid"/>
          </a:ln>
        </p:spPr>
      </p:sp>
      <p:sp>
        <p:nvSpPr>
          <p:cNvPr id="13" name="Text 11"/>
          <p:cNvSpPr txBox="1"/>
          <p:nvPr/>
        </p:nvSpPr>
        <p:spPr>
          <a:xfrm>
            <a:off x="6903720" y="1600200"/>
            <a:ext cx="1042416" cy="1289304"/>
          </a:xfrm>
          <a:prstGeom prst="rect">
            <a:avLst/>
          </a:prstGeom>
          <a:noFill/>
          <a:ln/>
        </p:spPr>
        <p:txBody>
          <a:bodyPr wrap="square" lIns="0" tIns="0" rIns="0" bIns="0" rtlCol="0" anchor="ctr"/>
          <a:lstStyle/>
          <a:p>
            <a:pPr algn="ctr" indent="0" marL="0">
              <a:buNone/>
            </a:pPr>
            <a:r>
              <a:rPr lang="en-US" sz="1050" b="1" dirty="0">
                <a:solidFill>
                  <a:srgbClr val="0E3A42"/>
                </a:solidFill>
              </a:rPr>
              <a:t>Living room</a:t>
            </a:r>
            <a:endParaRPr lang="en-US" sz="1050" dirty="0"/>
          </a:p>
        </p:txBody>
      </p:sp>
      <p:sp>
        <p:nvSpPr>
          <p:cNvPr id="14" name="room-10"/>
          <p:cNvSpPr/>
          <p:nvPr/>
        </p:nvSpPr>
        <p:spPr>
          <a:xfrm>
            <a:off x="6903720" y="3602736"/>
            <a:ext cx="1042416" cy="1014984"/>
          </a:xfrm>
          <a:prstGeom prst="rect">
            <a:avLst/>
          </a:prstGeom>
          <a:solidFill>
            <a:srgbClr val="EEF3F4"/>
          </a:solidFill>
          <a:ln w="12700">
            <a:solidFill>
              <a:srgbClr val="5A7A80"/>
            </a:solidFill>
            <a:prstDash val="solid"/>
          </a:ln>
        </p:spPr>
      </p:sp>
      <p:sp>
        <p:nvSpPr>
          <p:cNvPr id="15" name="Text 13"/>
          <p:cNvSpPr txBox="1"/>
          <p:nvPr/>
        </p:nvSpPr>
        <p:spPr>
          <a:xfrm>
            <a:off x="6903720" y="3602736"/>
            <a:ext cx="1042416" cy="1014984"/>
          </a:xfrm>
          <a:prstGeom prst="rect">
            <a:avLst/>
          </a:prstGeom>
          <a:noFill/>
          <a:ln/>
        </p:spPr>
        <p:txBody>
          <a:bodyPr wrap="square" lIns="0" tIns="0" rIns="0" bIns="0" rtlCol="0" anchor="ctr"/>
          <a:lstStyle/>
          <a:p>
            <a:pPr algn="ctr" indent="0" marL="0">
              <a:buNone/>
            </a:pPr>
            <a:r>
              <a:rPr lang="en-US" sz="1050" b="1" dirty="0">
                <a:solidFill>
                  <a:srgbClr val="0E3A42"/>
                </a:solidFill>
              </a:rPr>
              <a:t>Kitchen</a:t>
            </a:r>
            <a:endParaRPr lang="en-US" sz="1050" dirty="0"/>
          </a:p>
        </p:txBody>
      </p:sp>
      <p:sp>
        <p:nvSpPr>
          <p:cNvPr id="16" name="room-11"/>
          <p:cNvSpPr/>
          <p:nvPr/>
        </p:nvSpPr>
        <p:spPr>
          <a:xfrm>
            <a:off x="8001000" y="2066544"/>
            <a:ext cx="822960" cy="822960"/>
          </a:xfrm>
          <a:prstGeom prst="rect">
            <a:avLst/>
          </a:prstGeom>
          <a:solidFill>
            <a:srgbClr val="EEF3F4"/>
          </a:solidFill>
          <a:ln w="12700">
            <a:solidFill>
              <a:srgbClr val="5A7A80"/>
            </a:solidFill>
            <a:prstDash val="solid"/>
          </a:ln>
        </p:spPr>
      </p:sp>
      <p:sp>
        <p:nvSpPr>
          <p:cNvPr id="17" name="Text 15"/>
          <p:cNvSpPr txBox="1"/>
          <p:nvPr/>
        </p:nvSpPr>
        <p:spPr>
          <a:xfrm>
            <a:off x="8001000" y="2066544"/>
            <a:ext cx="822960" cy="822960"/>
          </a:xfrm>
          <a:prstGeom prst="rect">
            <a:avLst/>
          </a:prstGeom>
          <a:noFill/>
          <a:ln/>
        </p:spPr>
        <p:txBody>
          <a:bodyPr wrap="square" lIns="0" tIns="0" rIns="0" bIns="0" rtlCol="0" anchor="ctr"/>
          <a:lstStyle/>
          <a:p>
            <a:pPr algn="ctr" indent="0" marL="0">
              <a:buNone/>
            </a:pPr>
            <a:r>
              <a:rPr lang="en-US" sz="1050" b="1" dirty="0">
                <a:solidFill>
                  <a:srgbClr val="0E3A42"/>
                </a:solidFill>
              </a:rPr>
              <a:t>Bathroom</a:t>
            </a:r>
            <a:endParaRPr lang="en-US" sz="1050" dirty="0"/>
          </a:p>
        </p:txBody>
      </p:sp>
      <p:sp>
        <p:nvSpPr>
          <p:cNvPr id="18" name="room-12"/>
          <p:cNvSpPr/>
          <p:nvPr/>
        </p:nvSpPr>
        <p:spPr>
          <a:xfrm>
            <a:off x="9235440" y="1901952"/>
            <a:ext cx="1097280" cy="987552"/>
          </a:xfrm>
          <a:prstGeom prst="rect">
            <a:avLst/>
          </a:prstGeom>
          <a:solidFill>
            <a:srgbClr val="EEF3F4"/>
          </a:solidFill>
          <a:ln w="12700">
            <a:solidFill>
              <a:srgbClr val="5A7A80"/>
            </a:solidFill>
            <a:prstDash val="solid"/>
          </a:ln>
        </p:spPr>
      </p:sp>
      <p:sp>
        <p:nvSpPr>
          <p:cNvPr id="19" name="Text 17"/>
          <p:cNvSpPr txBox="1"/>
          <p:nvPr/>
        </p:nvSpPr>
        <p:spPr>
          <a:xfrm>
            <a:off x="9235440" y="1901952"/>
            <a:ext cx="1097280" cy="987552"/>
          </a:xfrm>
          <a:prstGeom prst="rect">
            <a:avLst/>
          </a:prstGeom>
          <a:noFill/>
          <a:ln/>
        </p:spPr>
        <p:txBody>
          <a:bodyPr wrap="square" lIns="0" tIns="0" rIns="0" bIns="0" rtlCol="0" anchor="ctr"/>
          <a:lstStyle/>
          <a:p>
            <a:pPr algn="ctr" indent="0" marL="0">
              <a:buNone/>
            </a:pPr>
            <a:r>
              <a:rPr lang="en-US" sz="1050" b="1" dirty="0">
                <a:solidFill>
                  <a:srgbClr val="0E3A42"/>
                </a:solidFill>
              </a:rPr>
              <a:t>Bedroom</a:t>
            </a:r>
            <a:endParaRPr lang="en-US" sz="1050" dirty="0"/>
          </a:p>
        </p:txBody>
      </p:sp>
      <p:sp>
        <p:nvSpPr>
          <p:cNvPr id="20" name="room-13"/>
          <p:cNvSpPr/>
          <p:nvPr/>
        </p:nvSpPr>
        <p:spPr>
          <a:xfrm>
            <a:off x="6903720" y="2889504"/>
            <a:ext cx="3291840" cy="713232"/>
          </a:xfrm>
          <a:prstGeom prst="rect">
            <a:avLst/>
          </a:prstGeom>
          <a:solidFill>
            <a:srgbClr val="0E7C86"/>
          </a:solidFill>
          <a:ln w="12700">
            <a:solidFill>
              <a:srgbClr val="5A7A80"/>
            </a:solidFill>
            <a:prstDash val="solid"/>
          </a:ln>
        </p:spPr>
      </p:sp>
      <p:sp>
        <p:nvSpPr>
          <p:cNvPr id="21" name="Text 19"/>
          <p:cNvSpPr txBox="1"/>
          <p:nvPr/>
        </p:nvSpPr>
        <p:spPr>
          <a:xfrm>
            <a:off x="6903720" y="2889504"/>
            <a:ext cx="3291840" cy="713232"/>
          </a:xfrm>
          <a:prstGeom prst="rect">
            <a:avLst/>
          </a:prstGeom>
          <a:noFill/>
          <a:ln/>
        </p:spPr>
        <p:txBody>
          <a:bodyPr wrap="square" lIns="0" tIns="0" rIns="0" bIns="0" rtlCol="0" anchor="ctr"/>
          <a:lstStyle/>
          <a:p>
            <a:pPr algn="ctr" indent="0" marL="0">
              <a:buNone/>
            </a:pPr>
            <a:r>
              <a:rPr lang="en-US" sz="1050" b="1" dirty="0">
                <a:solidFill>
                  <a:srgbClr val="FFFFFF"/>
                </a:solidFill>
              </a:rPr>
              <a:t>Hallway</a:t>
            </a:r>
            <a:endParaRPr lang="en-US" sz="1050" dirty="0"/>
          </a:p>
        </p:txBody>
      </p:sp>
      <p:sp>
        <p:nvSpPr>
          <p:cNvPr id="22" name="room-14"/>
          <p:cNvSpPr/>
          <p:nvPr/>
        </p:nvSpPr>
        <p:spPr>
          <a:xfrm>
            <a:off x="8892540" y="3602736"/>
            <a:ext cx="411480" cy="1426464"/>
          </a:xfrm>
          <a:prstGeom prst="rect">
            <a:avLst/>
          </a:prstGeom>
          <a:solidFill>
            <a:srgbClr val="EEF3F4"/>
          </a:solidFill>
          <a:ln w="12700">
            <a:solidFill>
              <a:srgbClr val="5A7A80"/>
            </a:solidFill>
            <a:prstDash val="solid"/>
          </a:ln>
        </p:spPr>
      </p:sp>
      <p:sp>
        <p:nvSpPr>
          <p:cNvPr id="23" name="Text 21"/>
          <p:cNvSpPr txBox="1"/>
          <p:nvPr/>
        </p:nvSpPr>
        <p:spPr>
          <a:xfrm>
            <a:off x="8892540" y="3602736"/>
            <a:ext cx="411480" cy="1426464"/>
          </a:xfrm>
          <a:prstGeom prst="rect">
            <a:avLst/>
          </a:prstGeom>
          <a:noFill/>
          <a:ln/>
        </p:spPr>
        <p:txBody>
          <a:bodyPr wrap="square" lIns="0" tIns="0" rIns="0" bIns="0" rtlCol="0" anchor="ctr"/>
          <a:lstStyle/>
          <a:p>
            <a:pPr algn="ctr" indent="0" marL="0">
              <a:buNone/>
            </a:pPr>
            <a:r>
              <a:rPr lang="en-US" sz="1050" b="1" dirty="0">
                <a:solidFill>
                  <a:srgbClr val="0E3A42"/>
                </a:solidFill>
              </a:rPr>
              <a:t>Stairs</a:t>
            </a:r>
            <a:endParaRPr lang="en-US" sz="1050" dirty="0"/>
          </a:p>
        </p:txBody>
      </p:sp>
      <p:sp>
        <p:nvSpPr>
          <p:cNvPr id="24" name="street-15"/>
          <p:cNvSpPr/>
          <p:nvPr/>
        </p:nvSpPr>
        <p:spPr>
          <a:xfrm>
            <a:off x="6903720" y="5221224"/>
            <a:ext cx="3429000" cy="310896"/>
          </a:xfrm>
          <a:prstGeom prst="rect">
            <a:avLst/>
          </a:prstGeom>
          <a:solidFill>
            <a:srgbClr val="5A7A80"/>
          </a:solidFill>
          <a:ln w="12700">
            <a:solidFill>
              <a:srgbClr val="333333"/>
            </a:solidFill>
            <a:prstDash val="solid"/>
          </a:ln>
        </p:spPr>
      </p:sp>
      <p:sp>
        <p:nvSpPr>
          <p:cNvPr id="25" name="Text 23"/>
          <p:cNvSpPr txBox="1"/>
          <p:nvPr/>
        </p:nvSpPr>
        <p:spPr>
          <a:xfrm>
            <a:off x="6903720" y="5221224"/>
            <a:ext cx="3429000" cy="310896"/>
          </a:xfrm>
          <a:prstGeom prst="rect">
            <a:avLst/>
          </a:prstGeom>
          <a:noFill/>
          <a:ln/>
        </p:spPr>
        <p:txBody>
          <a:bodyPr wrap="square" lIns="0" tIns="0" rIns="0" bIns="0" rtlCol="0" anchor="ctr"/>
          <a:lstStyle/>
          <a:p>
            <a:pPr algn="ctr" indent="0" marL="0">
              <a:buNone/>
            </a:pPr>
            <a:r>
              <a:rPr lang="en-US" sz="950" dirty="0">
                <a:solidFill>
                  <a:srgbClr val="FFFFFF"/>
                </a:solidFill>
              </a:rPr>
              <a:t>Front path, pavement, road and crossing</a:t>
            </a:r>
            <a:endParaRPr lang="en-US" sz="950" dirty="0"/>
          </a:p>
        </p:txBody>
      </p:sp>
      <p:sp>
        <p:nvSpPr>
          <p:cNvPr id="26" name="Text 24"/>
          <p:cNvSpPr txBox="1"/>
          <p:nvPr/>
        </p:nvSpPr>
        <p:spPr>
          <a:xfrm>
            <a:off x="6903720" y="5440680"/>
            <a:ext cx="4754880" cy="274320"/>
          </a:xfrm>
          <a:prstGeom prst="rect">
            <a:avLst/>
          </a:prstGeom>
          <a:noFill/>
          <a:ln/>
        </p:spPr>
        <p:txBody>
          <a:bodyPr wrap="square" lIns="0" tIns="0" rIns="0" bIns="0" rtlCol="0" anchor="ctr"/>
          <a:lstStyle/>
          <a:p>
            <a:pPr algn="ctr" indent="0" marL="0">
              <a:buNone/>
            </a:pPr>
            <a:r>
              <a:rPr lang="en-US" sz="1100" i="1" dirty="0">
                <a:solidFill>
                  <a:schemeClr val="tx2"/>
                </a:solidFill>
              </a:rPr>
              <a:t>Floor plan, to scale  ·  the hall is 12 m end to end</a:t>
            </a:r>
            <a:endParaRPr lang="en-US" sz="1100" dirty="0"/>
          </a:p>
        </p:txBody>
      </p:sp>
      <p:sp>
        <p:nvSpPr>
          <p:cNvPr id="25" name="Slide Number Placeholder 0"/>
          <p:cNvSpPr>
            <a:spLocks noGrp="1"/>
          </p:cNvSpPr>
          <p:nvPr>
            <p:ph type="sldNum" sz="quarter" idx="4294967295"/>
          </p:nvPr>
        </p:nvSpPr>
        <p:spPr>
          <a:xfrm>
            <a:off x="114300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7A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indent="0" marL="0">
              <a:buNone/>
            </a:pPr>
            <a:r>
              <a:rPr lang="en-US" sz="3600" b="1" dirty="0">
                <a:solidFill>
                  <a:srgbClr val="0E3A42"/>
                </a:solidFill>
              </a:rPr>
              <a:t>What one session looks like</a:t>
            </a:r>
            <a:endParaRPr lang="en-US" sz="3600" dirty="0"/>
          </a:p>
        </p:txBody>
      </p:sp>
      <p:sp>
        <p:nvSpPr>
          <p:cNvPr id="3" name="card-16"/>
          <p:cNvSpPr/>
          <p:nvPr/>
        </p:nvSpPr>
        <p:spPr>
          <a:xfrm>
            <a:off x="548640" y="1417320"/>
            <a:ext cx="3520440" cy="2011680"/>
          </a:xfrm>
          <a:prstGeom prst="roundRect">
            <a:avLst>
              <a:gd name="adj" fmla="val 4545"/>
            </a:avLst>
          </a:prstGeom>
          <a:solidFill>
            <a:srgbClr val="EEF3F4"/>
          </a:solidFill>
          <a:ln w="12700">
            <a:solidFill>
              <a:srgbClr val="FFFFFF"/>
            </a:solidFill>
            <a:prstDash val="solid"/>
          </a:ln>
        </p:spPr>
      </p:sp>
      <p:sp>
        <p:nvSpPr>
          <p:cNvPr id="4" name="chip-17"/>
          <p:cNvSpPr/>
          <p:nvPr/>
        </p:nvSpPr>
        <p:spPr>
          <a:xfrm>
            <a:off x="822960" y="1691640"/>
            <a:ext cx="420624" cy="420624"/>
          </a:xfrm>
          <a:prstGeom prst="ellipse">
            <a:avLst/>
          </a:prstGeom>
          <a:solidFill>
            <a:srgbClr val="0E7C86"/>
          </a:solidFill>
          <a:ln w="12700">
            <a:solidFill>
              <a:srgbClr val="333333"/>
            </a:solidFill>
            <a:prstDash val="solid"/>
          </a:ln>
        </p:spPr>
      </p:sp>
      <p:sp>
        <p:nvSpPr>
          <p:cNvPr id="5" name="Text 3"/>
          <p:cNvSpPr txBox="1"/>
          <p:nvPr/>
        </p:nvSpPr>
        <p:spPr>
          <a:xfrm>
            <a:off x="822960" y="16916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822960" y="2286000"/>
            <a:ext cx="3017520" cy="365760"/>
          </a:xfrm>
          <a:prstGeom prst="rect">
            <a:avLst/>
          </a:prstGeom>
          <a:noFill/>
          <a:ln/>
        </p:spPr>
        <p:txBody>
          <a:bodyPr wrap="square" lIns="0" tIns="0" rIns="0" bIns="0" rtlCol="0" anchor="ctr"/>
          <a:lstStyle/>
          <a:p>
            <a:pPr indent="0" marL="0">
              <a:buNone/>
            </a:pPr>
            <a:r>
              <a:rPr lang="en-US" sz="2000" b="1" dirty="0">
                <a:solidFill>
                  <a:srgbClr val="0E3A42"/>
                </a:solidFill>
              </a:rPr>
              <a:t>Welcome</a:t>
            </a:r>
            <a:endParaRPr lang="en-US" sz="2000" dirty="0"/>
          </a:p>
        </p:txBody>
      </p:sp>
      <p:sp>
        <p:nvSpPr>
          <p:cNvPr id="7" name="Text 5"/>
          <p:cNvSpPr txBox="1"/>
          <p:nvPr/>
        </p:nvSpPr>
        <p:spPr>
          <a:xfrm>
            <a:off x="822960" y="2679192"/>
            <a:ext cx="3017520" cy="640080"/>
          </a:xfrm>
          <a:prstGeom prst="rect">
            <a:avLst/>
          </a:prstGeom>
          <a:noFill/>
          <a:ln/>
        </p:spPr>
        <p:txBody>
          <a:bodyPr wrap="square" lIns="0" tIns="0" rIns="0" bIns="0" rtlCol="0" anchor="t"/>
          <a:lstStyle/>
          <a:p>
            <a:pPr indent="0" marL="0">
              <a:buNone/>
            </a:pPr>
            <a:r>
              <a:rPr lang="en-US" sz="1300" dirty="0">
                <a:solidFill>
                  <a:schemeClr val="tx2"/>
                </a:solidFill>
              </a:rPr>
              <a:t>Nine buttons on the wall. Everything is shown and read out loud.</a:t>
            </a:r>
            <a:endParaRPr lang="en-US" sz="1300" dirty="0"/>
          </a:p>
        </p:txBody>
      </p:sp>
      <p:sp>
        <p:nvSpPr>
          <p:cNvPr id="8" name="card-18"/>
          <p:cNvSpPr/>
          <p:nvPr/>
        </p:nvSpPr>
        <p:spPr>
          <a:xfrm>
            <a:off x="4343400" y="1417320"/>
            <a:ext cx="3520440" cy="2011680"/>
          </a:xfrm>
          <a:prstGeom prst="roundRect">
            <a:avLst>
              <a:gd name="adj" fmla="val 4545"/>
            </a:avLst>
          </a:prstGeom>
          <a:solidFill>
            <a:srgbClr val="EEF3F4"/>
          </a:solidFill>
          <a:ln w="12700">
            <a:solidFill>
              <a:srgbClr val="FFFFFF"/>
            </a:solidFill>
            <a:prstDash val="solid"/>
          </a:ln>
        </p:spPr>
      </p:sp>
      <p:sp>
        <p:nvSpPr>
          <p:cNvPr id="9" name="chip-19"/>
          <p:cNvSpPr/>
          <p:nvPr/>
        </p:nvSpPr>
        <p:spPr>
          <a:xfrm>
            <a:off x="4617720" y="1691640"/>
            <a:ext cx="420624" cy="420624"/>
          </a:xfrm>
          <a:prstGeom prst="ellipse">
            <a:avLst/>
          </a:prstGeom>
          <a:solidFill>
            <a:srgbClr val="0E7C86"/>
          </a:solidFill>
          <a:ln w="12700">
            <a:solidFill>
              <a:srgbClr val="333333"/>
            </a:solidFill>
            <a:prstDash val="solid"/>
          </a:ln>
        </p:spPr>
      </p:sp>
      <p:sp>
        <p:nvSpPr>
          <p:cNvPr id="10" name="Text 8"/>
          <p:cNvSpPr txBox="1"/>
          <p:nvPr/>
        </p:nvSpPr>
        <p:spPr>
          <a:xfrm>
            <a:off x="4617720" y="16916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1" name="Text 9"/>
          <p:cNvSpPr txBox="1"/>
          <p:nvPr/>
        </p:nvSpPr>
        <p:spPr>
          <a:xfrm>
            <a:off x="4617720" y="2286000"/>
            <a:ext cx="3017520" cy="365760"/>
          </a:xfrm>
          <a:prstGeom prst="rect">
            <a:avLst/>
          </a:prstGeom>
          <a:noFill/>
          <a:ln/>
        </p:spPr>
        <p:txBody>
          <a:bodyPr wrap="square" lIns="0" tIns="0" rIns="0" bIns="0" rtlCol="0" anchor="ctr"/>
          <a:lstStyle/>
          <a:p>
            <a:pPr indent="0" marL="0">
              <a:buNone/>
            </a:pPr>
            <a:r>
              <a:rPr lang="en-US" sz="2000" b="1" dirty="0">
                <a:solidFill>
                  <a:srgbClr val="0E3A42"/>
                </a:solidFill>
              </a:rPr>
              <a:t>Explore</a:t>
            </a:r>
            <a:endParaRPr lang="en-US" sz="2000" dirty="0"/>
          </a:p>
        </p:txBody>
      </p:sp>
      <p:sp>
        <p:nvSpPr>
          <p:cNvPr id="12" name="Text 10"/>
          <p:cNvSpPr txBox="1"/>
          <p:nvPr/>
        </p:nvSpPr>
        <p:spPr>
          <a:xfrm>
            <a:off x="4617720" y="2679192"/>
            <a:ext cx="3017520" cy="640080"/>
          </a:xfrm>
          <a:prstGeom prst="rect">
            <a:avLst/>
          </a:prstGeom>
          <a:noFill/>
          <a:ln/>
        </p:spPr>
        <p:txBody>
          <a:bodyPr wrap="square" lIns="0" tIns="0" rIns="0" bIns="0" rtlCol="0" anchor="t"/>
          <a:lstStyle/>
          <a:p>
            <a:pPr indent="0" marL="0">
              <a:buNone/>
            </a:pPr>
            <a:r>
              <a:rPr lang="en-US" sz="1300" dirty="0">
                <a:solidFill>
                  <a:schemeClr val="tx2"/>
                </a:solidFill>
              </a:rPr>
              <a:t>Find the dangers in any order. Each room says when it is done.</a:t>
            </a:r>
            <a:endParaRPr lang="en-US" sz="1300" dirty="0"/>
          </a:p>
        </p:txBody>
      </p:sp>
      <p:sp>
        <p:nvSpPr>
          <p:cNvPr id="13" name="card-20"/>
          <p:cNvSpPr/>
          <p:nvPr/>
        </p:nvSpPr>
        <p:spPr>
          <a:xfrm>
            <a:off x="8138160" y="1417320"/>
            <a:ext cx="3520440" cy="2011680"/>
          </a:xfrm>
          <a:prstGeom prst="roundRect">
            <a:avLst>
              <a:gd name="adj" fmla="val 4545"/>
            </a:avLst>
          </a:prstGeom>
          <a:solidFill>
            <a:srgbClr val="EEF3F4"/>
          </a:solidFill>
          <a:ln w="12700">
            <a:solidFill>
              <a:srgbClr val="FFFFFF"/>
            </a:solidFill>
            <a:prstDash val="solid"/>
          </a:ln>
        </p:spPr>
      </p:sp>
      <p:sp>
        <p:nvSpPr>
          <p:cNvPr id="14" name="chip-21"/>
          <p:cNvSpPr/>
          <p:nvPr/>
        </p:nvSpPr>
        <p:spPr>
          <a:xfrm>
            <a:off x="8412480" y="1691640"/>
            <a:ext cx="420624" cy="420624"/>
          </a:xfrm>
          <a:prstGeom prst="ellipse">
            <a:avLst/>
          </a:prstGeom>
          <a:solidFill>
            <a:srgbClr val="F2A93B"/>
          </a:solidFill>
          <a:ln w="12700">
            <a:solidFill>
              <a:srgbClr val="333333"/>
            </a:solidFill>
            <a:prstDash val="solid"/>
          </a:ln>
        </p:spPr>
      </p:sp>
      <p:sp>
        <p:nvSpPr>
          <p:cNvPr id="15" name="Text 13"/>
          <p:cNvSpPr txBox="1"/>
          <p:nvPr/>
        </p:nvSpPr>
        <p:spPr>
          <a:xfrm>
            <a:off x="8412480" y="1691640"/>
            <a:ext cx="420624" cy="420624"/>
          </a:xfrm>
          <a:prstGeom prst="rect">
            <a:avLst/>
          </a:prstGeom>
          <a:noFill/>
          <a:ln/>
        </p:spPr>
        <p:txBody>
          <a:bodyPr wrap="square" lIns="0" tIns="0" rIns="0" bIns="0" rtlCol="0" anchor="ctr"/>
          <a:lstStyle/>
          <a:p>
            <a:pPr algn="ctr" indent="0" marL="0">
              <a:buNone/>
            </a:pPr>
            <a:r>
              <a:rPr lang="en-US" sz="1500" b="1" dirty="0">
                <a:solidFill>
                  <a:srgbClr val="16262B"/>
                </a:solidFill>
              </a:rPr>
              <a:t>3</a:t>
            </a:r>
            <a:endParaRPr lang="en-US" sz="1500" dirty="0"/>
          </a:p>
        </p:txBody>
      </p:sp>
      <p:sp>
        <p:nvSpPr>
          <p:cNvPr id="16" name="Text 14"/>
          <p:cNvSpPr txBox="1"/>
          <p:nvPr/>
        </p:nvSpPr>
        <p:spPr>
          <a:xfrm>
            <a:off x="8412480" y="2286000"/>
            <a:ext cx="3017520" cy="365760"/>
          </a:xfrm>
          <a:prstGeom prst="rect">
            <a:avLst/>
          </a:prstGeom>
          <a:noFill/>
          <a:ln/>
        </p:spPr>
        <p:txBody>
          <a:bodyPr wrap="square" lIns="0" tIns="0" rIns="0" bIns="0" rtlCol="0" anchor="ctr"/>
          <a:lstStyle/>
          <a:p>
            <a:pPr indent="0" marL="0">
              <a:buNone/>
            </a:pPr>
            <a:r>
              <a:rPr lang="en-US" sz="2000" b="1" dirty="0">
                <a:solidFill>
                  <a:srgbClr val="0E3A42"/>
                </a:solidFill>
              </a:rPr>
              <a:t>Cross</a:t>
            </a:r>
            <a:endParaRPr lang="en-US" sz="2000" dirty="0"/>
          </a:p>
        </p:txBody>
      </p:sp>
      <p:sp>
        <p:nvSpPr>
          <p:cNvPr id="17" name="Text 15"/>
          <p:cNvSpPr txBox="1"/>
          <p:nvPr/>
        </p:nvSpPr>
        <p:spPr>
          <a:xfrm>
            <a:off x="8412480" y="2679192"/>
            <a:ext cx="3017520" cy="640080"/>
          </a:xfrm>
          <a:prstGeom prst="rect">
            <a:avLst/>
          </a:prstGeom>
          <a:noFill/>
          <a:ln/>
        </p:spPr>
        <p:txBody>
          <a:bodyPr wrap="square" lIns="0" tIns="0" rIns="0" bIns="0" rtlCol="0" anchor="t"/>
          <a:lstStyle/>
          <a:p>
            <a:pPr indent="0" marL="0">
              <a:buNone/>
            </a:pPr>
            <a:r>
              <a:rPr lang="en-US" sz="1300" dirty="0">
                <a:solidFill>
                  <a:schemeClr val="tx2"/>
                </a:solidFill>
              </a:rPr>
              <a:t>One ring lights at a time, in the room you are in. Step on each without bumping anything.</a:t>
            </a:r>
            <a:endParaRPr lang="en-US" sz="1300" dirty="0"/>
          </a:p>
        </p:txBody>
      </p:sp>
      <p:sp>
        <p:nvSpPr>
          <p:cNvPr id="18" name="card-22"/>
          <p:cNvSpPr/>
          <p:nvPr/>
        </p:nvSpPr>
        <p:spPr>
          <a:xfrm>
            <a:off x="548640" y="3749040"/>
            <a:ext cx="3520440" cy="2011680"/>
          </a:xfrm>
          <a:prstGeom prst="roundRect">
            <a:avLst>
              <a:gd name="adj" fmla="val 4545"/>
            </a:avLst>
          </a:prstGeom>
          <a:solidFill>
            <a:srgbClr val="EEF3F4"/>
          </a:solidFill>
          <a:ln w="12700">
            <a:solidFill>
              <a:srgbClr val="FFFFFF"/>
            </a:solidFill>
            <a:prstDash val="solid"/>
          </a:ln>
        </p:spPr>
      </p:sp>
      <p:sp>
        <p:nvSpPr>
          <p:cNvPr id="19" name="chip-23"/>
          <p:cNvSpPr/>
          <p:nvPr/>
        </p:nvSpPr>
        <p:spPr>
          <a:xfrm>
            <a:off x="822960" y="4023360"/>
            <a:ext cx="420624" cy="420624"/>
          </a:xfrm>
          <a:prstGeom prst="ellipse">
            <a:avLst/>
          </a:prstGeom>
          <a:solidFill>
            <a:srgbClr val="0E7C86"/>
          </a:solidFill>
          <a:ln w="12700">
            <a:solidFill>
              <a:srgbClr val="333333"/>
            </a:solidFill>
            <a:prstDash val="solid"/>
          </a:ln>
        </p:spPr>
      </p:sp>
      <p:sp>
        <p:nvSpPr>
          <p:cNvPr id="20" name="Text 18"/>
          <p:cNvSpPr txBox="1"/>
          <p:nvPr/>
        </p:nvSpPr>
        <p:spPr>
          <a:xfrm>
            <a:off x="822960" y="40233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1" name="Text 19"/>
          <p:cNvSpPr txBox="1"/>
          <p:nvPr/>
        </p:nvSpPr>
        <p:spPr>
          <a:xfrm>
            <a:off x="822960" y="4617720"/>
            <a:ext cx="3017520" cy="365760"/>
          </a:xfrm>
          <a:prstGeom prst="rect">
            <a:avLst/>
          </a:prstGeom>
          <a:noFill/>
          <a:ln/>
        </p:spPr>
        <p:txBody>
          <a:bodyPr wrap="square" lIns="0" tIns="0" rIns="0" bIns="0" rtlCol="0" anchor="ctr"/>
          <a:lstStyle/>
          <a:p>
            <a:pPr indent="0" marL="0">
              <a:buNone/>
            </a:pPr>
            <a:r>
              <a:rPr lang="en-US" sz="2000" b="1" dirty="0">
                <a:solidFill>
                  <a:srgbClr val="0E3A42"/>
                </a:solidFill>
              </a:rPr>
              <a:t>Street</a:t>
            </a:r>
            <a:endParaRPr lang="en-US" sz="2000" dirty="0"/>
          </a:p>
        </p:txBody>
      </p:sp>
      <p:sp>
        <p:nvSpPr>
          <p:cNvPr id="22" name="Text 20"/>
          <p:cNvSpPr txBox="1"/>
          <p:nvPr/>
        </p:nvSpPr>
        <p:spPr>
          <a:xfrm>
            <a:off x="822960" y="5010912"/>
            <a:ext cx="3017520" cy="640080"/>
          </a:xfrm>
          <a:prstGeom prst="rect">
            <a:avLst/>
          </a:prstGeom>
          <a:noFill/>
          <a:ln/>
        </p:spPr>
        <p:txBody>
          <a:bodyPr wrap="square" lIns="0" tIns="0" rIns="0" bIns="0" rtlCol="0" anchor="t"/>
          <a:lstStyle/>
          <a:p>
            <a:pPr indent="0" marL="0">
              <a:buNone/>
            </a:pPr>
            <a:r>
              <a:rPr lang="en-US" sz="1300" dirty="0">
                <a:solidFill>
                  <a:schemeClr val="tx2"/>
                </a:solidFill>
              </a:rPr>
              <a:t>Out of the front door. Press the button, wait for the green man, cross, then cross back.</a:t>
            </a:r>
            <a:endParaRPr lang="en-US" sz="1300" dirty="0"/>
          </a:p>
        </p:txBody>
      </p:sp>
      <p:sp>
        <p:nvSpPr>
          <p:cNvPr id="23" name="card-24"/>
          <p:cNvSpPr/>
          <p:nvPr/>
        </p:nvSpPr>
        <p:spPr>
          <a:xfrm>
            <a:off x="4343400" y="3749040"/>
            <a:ext cx="3520440" cy="2011680"/>
          </a:xfrm>
          <a:prstGeom prst="roundRect">
            <a:avLst>
              <a:gd name="adj" fmla="val 4545"/>
            </a:avLst>
          </a:prstGeom>
          <a:solidFill>
            <a:srgbClr val="EEF3F4"/>
          </a:solidFill>
          <a:ln w="12700">
            <a:solidFill>
              <a:srgbClr val="FFFFFF"/>
            </a:solidFill>
            <a:prstDash val="solid"/>
          </a:ln>
        </p:spPr>
      </p:sp>
      <p:sp>
        <p:nvSpPr>
          <p:cNvPr id="24" name="chip-25"/>
          <p:cNvSpPr/>
          <p:nvPr/>
        </p:nvSpPr>
        <p:spPr>
          <a:xfrm>
            <a:off x="4617720" y="4023360"/>
            <a:ext cx="420624" cy="420624"/>
          </a:xfrm>
          <a:prstGeom prst="ellipse">
            <a:avLst/>
          </a:prstGeom>
          <a:solidFill>
            <a:srgbClr val="0E7C86"/>
          </a:solidFill>
          <a:ln w="12700">
            <a:solidFill>
              <a:srgbClr val="333333"/>
            </a:solidFill>
            <a:prstDash val="solid"/>
          </a:ln>
        </p:spPr>
      </p:sp>
      <p:sp>
        <p:nvSpPr>
          <p:cNvPr id="25" name="Text 23"/>
          <p:cNvSpPr txBox="1"/>
          <p:nvPr/>
        </p:nvSpPr>
        <p:spPr>
          <a:xfrm>
            <a:off x="4617720" y="40233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6" name="Text 24"/>
          <p:cNvSpPr txBox="1"/>
          <p:nvPr/>
        </p:nvSpPr>
        <p:spPr>
          <a:xfrm>
            <a:off x="4617720" y="4617720"/>
            <a:ext cx="3017520" cy="365760"/>
          </a:xfrm>
          <a:prstGeom prst="rect">
            <a:avLst/>
          </a:prstGeom>
          <a:noFill/>
          <a:ln/>
        </p:spPr>
        <p:txBody>
          <a:bodyPr wrap="square" lIns="0" tIns="0" rIns="0" bIns="0" rtlCol="0" anchor="ctr"/>
          <a:lstStyle/>
          <a:p>
            <a:pPr indent="0" marL="0">
              <a:buNone/>
            </a:pPr>
            <a:r>
              <a:rPr lang="en-US" sz="2000" b="1" dirty="0">
                <a:solidFill>
                  <a:srgbClr val="0E3A42"/>
                </a:solidFill>
              </a:rPr>
              <a:t>Balance</a:t>
            </a:r>
            <a:endParaRPr lang="en-US" sz="2000" dirty="0"/>
          </a:p>
        </p:txBody>
      </p:sp>
      <p:sp>
        <p:nvSpPr>
          <p:cNvPr id="27" name="Text 25"/>
          <p:cNvSpPr txBox="1"/>
          <p:nvPr/>
        </p:nvSpPr>
        <p:spPr>
          <a:xfrm>
            <a:off x="4617720" y="5010912"/>
            <a:ext cx="3017520" cy="640080"/>
          </a:xfrm>
          <a:prstGeom prst="rect">
            <a:avLst/>
          </a:prstGeom>
          <a:noFill/>
          <a:ln/>
        </p:spPr>
        <p:txBody>
          <a:bodyPr wrap="square" lIns="0" tIns="0" rIns="0" bIns="0" rtlCol="0" anchor="t"/>
          <a:lstStyle/>
          <a:p>
            <a:pPr indent="0" marL="0">
              <a:buNone/>
            </a:pPr>
            <a:r>
              <a:rPr lang="en-US" sz="1300" dirty="0">
                <a:solidFill>
                  <a:schemeClr val="tx2"/>
                </a:solidFill>
              </a:rPr>
              <a:t>Reach out three times. We measure how far they wobble.</a:t>
            </a:r>
            <a:endParaRPr lang="en-US" sz="1300" dirty="0"/>
          </a:p>
        </p:txBody>
      </p:sp>
      <p:sp>
        <p:nvSpPr>
          <p:cNvPr id="28" name="card-26"/>
          <p:cNvSpPr/>
          <p:nvPr/>
        </p:nvSpPr>
        <p:spPr>
          <a:xfrm>
            <a:off x="8138160" y="3749040"/>
            <a:ext cx="3520440" cy="2011680"/>
          </a:xfrm>
          <a:prstGeom prst="roundRect">
            <a:avLst>
              <a:gd name="adj" fmla="val 4545"/>
            </a:avLst>
          </a:prstGeom>
          <a:solidFill>
            <a:srgbClr val="EEF3F4"/>
          </a:solidFill>
          <a:ln w="12700">
            <a:solidFill>
              <a:srgbClr val="FFFFFF"/>
            </a:solidFill>
            <a:prstDash val="solid"/>
          </a:ln>
        </p:spPr>
      </p:sp>
      <p:sp>
        <p:nvSpPr>
          <p:cNvPr id="29" name="chip-27"/>
          <p:cNvSpPr/>
          <p:nvPr/>
        </p:nvSpPr>
        <p:spPr>
          <a:xfrm>
            <a:off x="8412480" y="4023360"/>
            <a:ext cx="420624" cy="420624"/>
          </a:xfrm>
          <a:prstGeom prst="ellipse">
            <a:avLst/>
          </a:prstGeom>
          <a:solidFill>
            <a:srgbClr val="0E7C86"/>
          </a:solidFill>
          <a:ln w="12700">
            <a:solidFill>
              <a:srgbClr val="333333"/>
            </a:solidFill>
            <a:prstDash val="solid"/>
          </a:ln>
        </p:spPr>
      </p:sp>
      <p:sp>
        <p:nvSpPr>
          <p:cNvPr id="30" name="Text 28"/>
          <p:cNvSpPr txBox="1"/>
          <p:nvPr/>
        </p:nvSpPr>
        <p:spPr>
          <a:xfrm>
            <a:off x="8412480" y="40233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31" name="Text 29"/>
          <p:cNvSpPr txBox="1"/>
          <p:nvPr/>
        </p:nvSpPr>
        <p:spPr>
          <a:xfrm>
            <a:off x="8412480" y="4617720"/>
            <a:ext cx="3017520" cy="365760"/>
          </a:xfrm>
          <a:prstGeom prst="rect">
            <a:avLst/>
          </a:prstGeom>
          <a:noFill/>
          <a:ln/>
        </p:spPr>
        <p:txBody>
          <a:bodyPr wrap="square" lIns="0" tIns="0" rIns="0" bIns="0" rtlCol="0" anchor="ctr"/>
          <a:lstStyle/>
          <a:p>
            <a:pPr indent="0" marL="0">
              <a:buNone/>
            </a:pPr>
            <a:r>
              <a:rPr lang="en-US" sz="2000" b="1" dirty="0">
                <a:solidFill>
                  <a:srgbClr val="0E3A42"/>
                </a:solidFill>
              </a:rPr>
              <a:t>Debrief</a:t>
            </a:r>
            <a:endParaRPr lang="en-US" sz="2000" dirty="0"/>
          </a:p>
        </p:txBody>
      </p:sp>
      <p:sp>
        <p:nvSpPr>
          <p:cNvPr id="32" name="Text 30"/>
          <p:cNvSpPr txBox="1"/>
          <p:nvPr/>
        </p:nvSpPr>
        <p:spPr>
          <a:xfrm>
            <a:off x="8412480" y="5010912"/>
            <a:ext cx="3017520" cy="640080"/>
          </a:xfrm>
          <a:prstGeom prst="rect">
            <a:avLst/>
          </a:prstGeom>
          <a:noFill/>
          <a:ln/>
        </p:spPr>
        <p:txBody>
          <a:bodyPr wrap="square" lIns="0" tIns="0" rIns="0" bIns="0" rtlCol="0" anchor="t"/>
          <a:lstStyle/>
          <a:p>
            <a:pPr indent="0" marL="0">
              <a:buNone/>
            </a:pPr>
            <a:r>
              <a:rPr lang="en-US" sz="1300" dirty="0">
                <a:solidFill>
                  <a:schemeClr val="tx2"/>
                </a:solidFill>
              </a:rPr>
              <a:t>Scores, what was missed, and what to work on next time.</a:t>
            </a:r>
            <a:endParaRPr lang="en-US" sz="1300" dirty="0"/>
          </a:p>
        </p:txBody>
      </p:sp>
      <p:sp>
        <p:nvSpPr>
          <p:cNvPr id="33" name="Text 31"/>
          <p:cNvSpPr txBox="1"/>
          <p:nvPr/>
        </p:nvSpPr>
        <p:spPr>
          <a:xfrm>
            <a:off x="548640" y="5806440"/>
            <a:ext cx="11064240" cy="365760"/>
          </a:xfrm>
          <a:prstGeom prst="rect">
            <a:avLst/>
          </a:prstGeom>
          <a:noFill/>
          <a:ln/>
        </p:spPr>
        <p:txBody>
          <a:bodyPr wrap="square" lIns="0" tIns="0" rIns="0" bIns="0" rtlCol="0" anchor="ctr"/>
          <a:lstStyle/>
          <a:p>
            <a:pPr indent="0" marL="0">
              <a:buNone/>
            </a:pPr>
            <a:r>
              <a:rPr lang="en-US" sz="1350" i="1" dirty="0">
                <a:solidFill>
                  <a:schemeClr val="tx2"/>
                </a:solidFill>
              </a:rPr>
              <a:t>No time limit. They can hear the instructions again, turn the voice off, or stop early.</a:t>
            </a:r>
            <a:endParaRPr lang="en-US" sz="1350" dirty="0"/>
          </a:p>
        </p:txBody>
      </p:sp>
      <p:sp>
        <p:nvSpPr>
          <p:cNvPr id="25" name="Slide Number Placeholder 0"/>
          <p:cNvSpPr>
            <a:spLocks noGrp="1"/>
          </p:cNvSpPr>
          <p:nvPr>
            <p:ph type="sldNum" sz="quarter" idx="4294967295"/>
          </p:nvPr>
        </p:nvSpPr>
        <p:spPr>
          <a:xfrm>
            <a:off x="114300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7A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22960" y="2148840"/>
            <a:ext cx="9144000" cy="365760"/>
          </a:xfrm>
          <a:prstGeom prst="rect">
            <a:avLst/>
          </a:prstGeom>
          <a:noFill/>
          <a:ln/>
        </p:spPr>
        <p:txBody>
          <a:bodyPr wrap="square" lIns="0" tIns="0" rIns="0" bIns="0" rtlCol="0" anchor="ctr"/>
          <a:lstStyle/>
          <a:p>
            <a:pPr indent="0" marL="0">
              <a:buNone/>
            </a:pPr>
            <a:r>
              <a:rPr lang="en-US" sz="1500" b="1" spc="200" kern="0" dirty="0">
                <a:solidFill>
                  <a:srgbClr val="F2A93B"/>
                </a:solidFill>
              </a:rPr>
              <a:t>THE FIVE TRAINING TASKS</a:t>
            </a:r>
            <a:endParaRPr lang="en-US" sz="1500" dirty="0"/>
          </a:p>
        </p:txBody>
      </p:sp>
      <p:sp>
        <p:nvSpPr>
          <p:cNvPr id="3" name="Text 1"/>
          <p:cNvSpPr txBox="1"/>
          <p:nvPr/>
        </p:nvSpPr>
        <p:spPr>
          <a:xfrm>
            <a:off x="822960" y="2560320"/>
            <a:ext cx="10058400" cy="1005840"/>
          </a:xfrm>
          <a:prstGeom prst="rect">
            <a:avLst/>
          </a:prstGeom>
          <a:noFill/>
          <a:ln/>
        </p:spPr>
        <p:txBody>
          <a:bodyPr wrap="square" lIns="0" tIns="0" rIns="0" bIns="0" rtlCol="0" anchor="ctr"/>
          <a:lstStyle/>
          <a:p>
            <a:pPr indent="0" marL="0">
              <a:buNone/>
            </a:pPr>
            <a:r>
              <a:rPr lang="en-US" sz="4200" b="1" dirty="0">
                <a:solidFill>
                  <a:srgbClr val="FFFFFF"/>
                </a:solidFill>
              </a:rPr>
              <a:t>What the person does, and</a:t>
            </a:r>
            <a:endParaRPr lang="en-US" sz="4200" dirty="0"/>
          </a:p>
          <a:p>
            <a:pPr indent="0" marL="0">
              <a:buNone/>
            </a:pPr>
            <a:r>
              <a:rPr lang="en-US" sz="4200" b="1" dirty="0">
                <a:solidFill>
                  <a:srgbClr val="FFFFFF"/>
                </a:solidFill>
              </a:rPr>
              <a:t>what each one really tells us</a:t>
            </a:r>
            <a:endParaRPr lang="en-US" sz="4200" dirty="0"/>
          </a:p>
        </p:txBody>
      </p:sp>
      <p:sp>
        <p:nvSpPr>
          <p:cNvPr id="4" name="Text 2"/>
          <p:cNvSpPr txBox="1"/>
          <p:nvPr/>
        </p:nvSpPr>
        <p:spPr>
          <a:xfrm>
            <a:off x="822960" y="3657600"/>
            <a:ext cx="8778240" cy="914400"/>
          </a:xfrm>
          <a:prstGeom prst="rect">
            <a:avLst/>
          </a:prstGeom>
          <a:noFill/>
          <a:ln/>
        </p:spPr>
        <p:txBody>
          <a:bodyPr wrap="square" lIns="0" tIns="0" rIns="0" bIns="0" rtlCol="0" anchor="ctr"/>
          <a:lstStyle/>
          <a:p>
            <a:pPr indent="0" marL="0">
              <a:lnSpc>
                <a:spcPct val="120000"/>
              </a:lnSpc>
              <a:buNone/>
            </a:pPr>
            <a:r>
              <a:rPr lang="en-US" sz="1600" dirty="0">
                <a:solidFill>
                  <a:srgbClr val="8FB8BE"/>
                </a:solidFill>
              </a:rPr>
              <a:t>Each task trains one habit, and each gets its own score. So someone who spots dangers well but still walks into them can be told exactly that.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indent="0" marL="0">
              <a:buNone/>
            </a:pPr>
            <a:r>
              <a:rPr lang="en-US" sz="3600" b="1" dirty="0">
                <a:solidFill>
                  <a:srgbClr val="0E3A42"/>
                </a:solidFill>
              </a:rPr>
              <a:t>Task 1 — Recognising a hazard</a:t>
            </a:r>
            <a:endParaRPr lang="en-US" sz="3600" dirty="0"/>
          </a:p>
        </p:txBody>
      </p:sp>
      <p:sp>
        <p:nvSpPr>
          <p:cNvPr id="3" name="Text 1"/>
          <p:cNvSpPr txBox="1"/>
          <p:nvPr/>
        </p:nvSpPr>
        <p:spPr>
          <a:xfrm>
            <a:off x="548640" y="1325880"/>
            <a:ext cx="6583680" cy="1188720"/>
          </a:xfrm>
          <a:prstGeom prst="rect">
            <a:avLst/>
          </a:prstGeom>
          <a:noFill/>
          <a:ln/>
        </p:spPr>
        <p:txBody>
          <a:bodyPr wrap="square" lIns="0" tIns="0" rIns="0" bIns="0" rtlCol="0" anchor="t"/>
          <a:lstStyle/>
          <a:p>
            <a:pPr indent="0" marL="0">
              <a:lnSpc>
                <a:spcPct val="115000"/>
              </a:lnSpc>
              <a:buNone/>
            </a:pPr>
            <a:r>
              <a:rPr lang="en-US" sz="1450" dirty="0">
                <a:solidFill>
                  <a:schemeClr val="tx1"/>
                </a:solidFill>
              </a:rPr>
              <a:t>Point at anything that could cause a fall and pull the trigger. A right answer glows green, is named out loud, and gets one line of advice: "Run wires around the edge of the room, never across the floor."</a:t>
            </a:r>
            <a:endParaRPr lang="en-US" sz="1450" dirty="0"/>
          </a:p>
        </p:txBody>
      </p:sp>
      <p:sp>
        <p:nvSpPr>
          <p:cNvPr id="4" name="Text 2"/>
          <p:cNvSpPr txBox="1"/>
          <p:nvPr/>
        </p:nvSpPr>
        <p:spPr>
          <a:xfrm>
            <a:off x="548640" y="2743200"/>
            <a:ext cx="6583680" cy="310896"/>
          </a:xfrm>
          <a:prstGeom prst="rect">
            <a:avLst/>
          </a:prstGeom>
          <a:noFill/>
          <a:ln/>
        </p:spPr>
        <p:txBody>
          <a:bodyPr wrap="square" lIns="0" tIns="0" rIns="0" bIns="0" rtlCol="0" anchor="ctr"/>
          <a:lstStyle/>
          <a:p>
            <a:pPr indent="0" marL="0">
              <a:buNone/>
            </a:pPr>
            <a:r>
              <a:rPr lang="en-US" sz="1900" b="1" dirty="0">
                <a:solidFill>
                  <a:schemeClr val="tx2"/>
                </a:solidFill>
              </a:rPr>
              <a:t>Two choices worth explaining</a:t>
            </a:r>
            <a:endParaRPr lang="en-US" sz="1900" dirty="0"/>
          </a:p>
        </p:txBody>
      </p:sp>
      <p:sp>
        <p:nvSpPr>
          <p:cNvPr id="5" name="Text 3"/>
          <p:cNvSpPr txBox="1"/>
          <p:nvPr/>
        </p:nvSpPr>
        <p:spPr>
          <a:xfrm>
            <a:off x="548640" y="3200400"/>
            <a:ext cx="6583680" cy="1188720"/>
          </a:xfrm>
          <a:prstGeom prst="rect">
            <a:avLst/>
          </a:prstGeom>
          <a:noFill/>
          <a:ln/>
        </p:spPr>
        <p:txBody>
          <a:bodyPr wrap="square" lIns="0" tIns="0" rIns="0" bIns="0" rtlCol="0" anchor="t"/>
          <a:lstStyle/>
          <a:p>
            <a:pPr indent="0" marL="0">
              <a:lnSpc>
                <a:spcPct val="115000"/>
              </a:lnSpc>
              <a:buNone/>
            </a:pPr>
            <a:r>
              <a:rPr lang="en-US" sz="1450" dirty="0">
                <a:solidFill>
                  <a:schemeClr val="tx1"/>
                </a:solidFill>
              </a:rPr>
              <a:t>Seven things are safe on purpose: the sturdy armchair, the hall table, the towel rail. Pointing at one is noted but never punished, and gets a gentle reply rather than a buzz. Being a little too careful is a good habit.</a:t>
            </a:r>
            <a:endParaRPr lang="en-US" sz="1450" dirty="0"/>
          </a:p>
        </p:txBody>
      </p:sp>
      <p:sp>
        <p:nvSpPr>
          <p:cNvPr id="6" name="Text 4"/>
          <p:cNvSpPr txBox="1"/>
          <p:nvPr/>
        </p:nvSpPr>
        <p:spPr>
          <a:xfrm>
            <a:off x="548640" y="4480560"/>
            <a:ext cx="6583680" cy="1280160"/>
          </a:xfrm>
          <a:prstGeom prst="rect">
            <a:avLst/>
          </a:prstGeom>
          <a:noFill/>
          <a:ln/>
        </p:spPr>
        <p:txBody>
          <a:bodyPr wrap="square" lIns="0" tIns="0" rIns="0" bIns="0" rtlCol="0" anchor="t"/>
          <a:lstStyle/>
          <a:p>
            <a:pPr indent="0" marL="0">
              <a:lnSpc>
                <a:spcPct val="115000"/>
              </a:lnSpc>
              <a:buNone/>
            </a:pPr>
            <a:r>
              <a:rPr lang="en-US" sz="1450" dirty="0">
                <a:solidFill>
                  <a:schemeClr val="tx1"/>
                </a:solidFill>
              </a:rPr>
              <a:t>Walking into something you had not yet spotted is a near miss. It warns you, costs points, and is counted separately from one you had already found. Being told is not the same as noticing.</a:t>
            </a:r>
            <a:endParaRPr lang="en-US" sz="1450" dirty="0"/>
          </a:p>
        </p:txBody>
      </p:sp>
      <p:sp>
        <p:nvSpPr>
          <p:cNvPr id="7" name="card-28"/>
          <p:cNvSpPr/>
          <p:nvPr/>
        </p:nvSpPr>
        <p:spPr>
          <a:xfrm>
            <a:off x="7589520" y="1371600"/>
            <a:ext cx="4023360" cy="4389120"/>
          </a:xfrm>
          <a:prstGeom prst="roundRect">
            <a:avLst>
              <a:gd name="adj" fmla="val 2273"/>
            </a:avLst>
          </a:prstGeom>
          <a:solidFill>
            <a:srgbClr val="0E3A42"/>
          </a:solidFill>
          <a:ln w="12700">
            <a:solidFill>
              <a:srgbClr val="FFFFFF"/>
            </a:solidFill>
            <a:prstDash val="solid"/>
          </a:ln>
        </p:spPr>
      </p:sp>
      <p:sp>
        <p:nvSpPr>
          <p:cNvPr id="8" name="Text 6"/>
          <p:cNvSpPr txBox="1"/>
          <p:nvPr/>
        </p:nvSpPr>
        <p:spPr>
          <a:xfrm>
            <a:off x="7909560" y="1600200"/>
            <a:ext cx="3383280" cy="365760"/>
          </a:xfrm>
          <a:prstGeom prst="rect">
            <a:avLst/>
          </a:prstGeom>
          <a:noFill/>
          <a:ln/>
        </p:spPr>
        <p:txBody>
          <a:bodyPr wrap="square" lIns="0" tIns="0" rIns="0" bIns="0" rtlCol="0" anchor="ctr"/>
          <a:lstStyle/>
          <a:p>
            <a:pPr indent="0" marL="0">
              <a:buNone/>
            </a:pPr>
            <a:r>
              <a:rPr lang="en-US" sz="1700" b="1" dirty="0">
                <a:solidFill>
                  <a:srgbClr val="FFFFFF"/>
                </a:solidFill>
              </a:rPr>
              <a:t>Hazards by room</a:t>
            </a:r>
            <a:endParaRPr lang="en-US" sz="1700" dirty="0"/>
          </a:p>
        </p:txBody>
      </p:sp>
      <p:sp>
        <p:nvSpPr>
          <p:cNvPr id="9" name="Text 7"/>
          <p:cNvSpPr txBox="1"/>
          <p:nvPr/>
        </p:nvSpPr>
        <p:spPr>
          <a:xfrm>
            <a:off x="7909560" y="2148840"/>
            <a:ext cx="2103120" cy="329184"/>
          </a:xfrm>
          <a:prstGeom prst="rect">
            <a:avLst/>
          </a:prstGeom>
          <a:noFill/>
          <a:ln/>
        </p:spPr>
        <p:txBody>
          <a:bodyPr wrap="square" lIns="0" tIns="0" rIns="0" bIns="0" rtlCol="0" anchor="ctr"/>
          <a:lstStyle/>
          <a:p>
            <a:pPr indent="0" marL="0">
              <a:buNone/>
            </a:pPr>
            <a:r>
              <a:rPr lang="en-US" sz="1350" dirty="0">
                <a:solidFill>
                  <a:srgbClr val="8FB8BE"/>
                </a:solidFill>
              </a:rPr>
              <a:t>Street</a:t>
            </a:r>
            <a:endParaRPr lang="en-US" sz="1350" dirty="0"/>
          </a:p>
        </p:txBody>
      </p:sp>
      <p:sp>
        <p:nvSpPr>
          <p:cNvPr id="10" name="bar-29"/>
          <p:cNvSpPr/>
          <p:nvPr/>
        </p:nvSpPr>
        <p:spPr>
          <a:xfrm>
            <a:off x="10012680" y="2231136"/>
            <a:ext cx="960120" cy="164592"/>
          </a:xfrm>
          <a:prstGeom prst="rect">
            <a:avLst/>
          </a:prstGeom>
          <a:solidFill>
            <a:srgbClr val="F2A93B"/>
          </a:solidFill>
          <a:ln w="12700">
            <a:solidFill>
              <a:srgbClr val="333333"/>
            </a:solidFill>
            <a:prstDash val="solid"/>
          </a:ln>
        </p:spPr>
      </p:sp>
      <p:sp>
        <p:nvSpPr>
          <p:cNvPr id="11" name="Text 9"/>
          <p:cNvSpPr txBox="1"/>
          <p:nvPr/>
        </p:nvSpPr>
        <p:spPr>
          <a:xfrm>
            <a:off x="11109960" y="2148840"/>
            <a:ext cx="274320" cy="329184"/>
          </a:xfrm>
          <a:prstGeom prst="rect">
            <a:avLst/>
          </a:prstGeom>
          <a:noFill/>
          <a:ln/>
        </p:spPr>
        <p:txBody>
          <a:bodyPr wrap="square" lIns="0" tIns="0" rIns="0" bIns="0" rtlCol="0" anchor="ctr"/>
          <a:lstStyle/>
          <a:p>
            <a:pPr indent="0" marL="0">
              <a:buNone/>
            </a:pPr>
            <a:r>
              <a:rPr lang="en-US" sz="1350" b="1" dirty="0">
                <a:solidFill>
                  <a:srgbClr val="FFFFFF"/>
                </a:solidFill>
              </a:rPr>
              <a:t>8</a:t>
            </a:r>
            <a:endParaRPr lang="en-US" sz="1350" dirty="0"/>
          </a:p>
        </p:txBody>
      </p:sp>
      <p:sp>
        <p:nvSpPr>
          <p:cNvPr id="12" name="Text 10"/>
          <p:cNvSpPr txBox="1"/>
          <p:nvPr/>
        </p:nvSpPr>
        <p:spPr>
          <a:xfrm>
            <a:off x="7909560" y="2624328"/>
            <a:ext cx="2103120" cy="329184"/>
          </a:xfrm>
          <a:prstGeom prst="rect">
            <a:avLst/>
          </a:prstGeom>
          <a:noFill/>
          <a:ln/>
        </p:spPr>
        <p:txBody>
          <a:bodyPr wrap="square" lIns="0" tIns="0" rIns="0" bIns="0" rtlCol="0" anchor="ctr"/>
          <a:lstStyle/>
          <a:p>
            <a:pPr indent="0" marL="0">
              <a:buNone/>
            </a:pPr>
            <a:r>
              <a:rPr lang="en-US" sz="1350" dirty="0">
                <a:solidFill>
                  <a:srgbClr val="8FB8BE"/>
                </a:solidFill>
              </a:rPr>
              <a:t>Living room</a:t>
            </a:r>
            <a:endParaRPr lang="en-US" sz="1350" dirty="0"/>
          </a:p>
        </p:txBody>
      </p:sp>
      <p:sp>
        <p:nvSpPr>
          <p:cNvPr id="13" name="bar-30"/>
          <p:cNvSpPr/>
          <p:nvPr/>
        </p:nvSpPr>
        <p:spPr>
          <a:xfrm>
            <a:off x="10012680" y="2706624"/>
            <a:ext cx="480060" cy="164592"/>
          </a:xfrm>
          <a:prstGeom prst="rect">
            <a:avLst/>
          </a:prstGeom>
          <a:solidFill>
            <a:srgbClr val="F2A93B"/>
          </a:solidFill>
          <a:ln w="12700">
            <a:solidFill>
              <a:srgbClr val="333333"/>
            </a:solidFill>
            <a:prstDash val="solid"/>
          </a:ln>
        </p:spPr>
      </p:sp>
      <p:sp>
        <p:nvSpPr>
          <p:cNvPr id="14" name="Text 12"/>
          <p:cNvSpPr txBox="1"/>
          <p:nvPr/>
        </p:nvSpPr>
        <p:spPr>
          <a:xfrm>
            <a:off x="11109960" y="2624328"/>
            <a:ext cx="274320" cy="329184"/>
          </a:xfrm>
          <a:prstGeom prst="rect">
            <a:avLst/>
          </a:prstGeom>
          <a:noFill/>
          <a:ln/>
        </p:spPr>
        <p:txBody>
          <a:bodyPr wrap="square" lIns="0" tIns="0" rIns="0" bIns="0" rtlCol="0" anchor="ctr"/>
          <a:lstStyle/>
          <a:p>
            <a:pPr indent="0" marL="0">
              <a:buNone/>
            </a:pPr>
            <a:r>
              <a:rPr lang="en-US" sz="1350" b="1" dirty="0">
                <a:solidFill>
                  <a:srgbClr val="FFFFFF"/>
                </a:solidFill>
              </a:rPr>
              <a:t>4</a:t>
            </a:r>
            <a:endParaRPr lang="en-US" sz="1350" dirty="0"/>
          </a:p>
        </p:txBody>
      </p:sp>
      <p:sp>
        <p:nvSpPr>
          <p:cNvPr id="15" name="Text 13"/>
          <p:cNvSpPr txBox="1"/>
          <p:nvPr/>
        </p:nvSpPr>
        <p:spPr>
          <a:xfrm>
            <a:off x="7909560" y="3099816"/>
            <a:ext cx="2103120" cy="329184"/>
          </a:xfrm>
          <a:prstGeom prst="rect">
            <a:avLst/>
          </a:prstGeom>
          <a:noFill/>
          <a:ln/>
        </p:spPr>
        <p:txBody>
          <a:bodyPr wrap="square" lIns="0" tIns="0" rIns="0" bIns="0" rtlCol="0" anchor="ctr"/>
          <a:lstStyle/>
          <a:p>
            <a:pPr indent="0" marL="0">
              <a:buNone/>
            </a:pPr>
            <a:r>
              <a:rPr lang="en-US" sz="1350" dirty="0">
                <a:solidFill>
                  <a:srgbClr val="8FB8BE"/>
                </a:solidFill>
              </a:rPr>
              <a:t>Kitchen</a:t>
            </a:r>
            <a:endParaRPr lang="en-US" sz="1350" dirty="0"/>
          </a:p>
        </p:txBody>
      </p:sp>
      <p:sp>
        <p:nvSpPr>
          <p:cNvPr id="16" name="bar-31"/>
          <p:cNvSpPr/>
          <p:nvPr/>
        </p:nvSpPr>
        <p:spPr>
          <a:xfrm>
            <a:off x="10012680" y="3182112"/>
            <a:ext cx="480060" cy="164592"/>
          </a:xfrm>
          <a:prstGeom prst="rect">
            <a:avLst/>
          </a:prstGeom>
          <a:solidFill>
            <a:srgbClr val="F2A93B"/>
          </a:solidFill>
          <a:ln w="12700">
            <a:solidFill>
              <a:srgbClr val="333333"/>
            </a:solidFill>
            <a:prstDash val="solid"/>
          </a:ln>
        </p:spPr>
      </p:sp>
      <p:sp>
        <p:nvSpPr>
          <p:cNvPr id="17" name="Text 15"/>
          <p:cNvSpPr txBox="1"/>
          <p:nvPr/>
        </p:nvSpPr>
        <p:spPr>
          <a:xfrm>
            <a:off x="11109960" y="3099816"/>
            <a:ext cx="274320" cy="329184"/>
          </a:xfrm>
          <a:prstGeom prst="rect">
            <a:avLst/>
          </a:prstGeom>
          <a:noFill/>
          <a:ln/>
        </p:spPr>
        <p:txBody>
          <a:bodyPr wrap="square" lIns="0" tIns="0" rIns="0" bIns="0" rtlCol="0" anchor="ctr"/>
          <a:lstStyle/>
          <a:p>
            <a:pPr indent="0" marL="0">
              <a:buNone/>
            </a:pPr>
            <a:r>
              <a:rPr lang="en-US" sz="1350" b="1" dirty="0">
                <a:solidFill>
                  <a:srgbClr val="FFFFFF"/>
                </a:solidFill>
              </a:rPr>
              <a:t>4</a:t>
            </a:r>
            <a:endParaRPr lang="en-US" sz="1350" dirty="0"/>
          </a:p>
        </p:txBody>
      </p:sp>
      <p:sp>
        <p:nvSpPr>
          <p:cNvPr id="18" name="Text 16"/>
          <p:cNvSpPr txBox="1"/>
          <p:nvPr/>
        </p:nvSpPr>
        <p:spPr>
          <a:xfrm>
            <a:off x="7909560" y="3575304"/>
            <a:ext cx="2103120" cy="329184"/>
          </a:xfrm>
          <a:prstGeom prst="rect">
            <a:avLst/>
          </a:prstGeom>
          <a:noFill/>
          <a:ln/>
        </p:spPr>
        <p:txBody>
          <a:bodyPr wrap="square" lIns="0" tIns="0" rIns="0" bIns="0" rtlCol="0" anchor="ctr"/>
          <a:lstStyle/>
          <a:p>
            <a:pPr indent="0" marL="0">
              <a:buNone/>
            </a:pPr>
            <a:r>
              <a:rPr lang="en-US" sz="1350" dirty="0">
                <a:solidFill>
                  <a:srgbClr val="8FB8BE"/>
                </a:solidFill>
              </a:rPr>
              <a:t>Bathroom</a:t>
            </a:r>
            <a:endParaRPr lang="en-US" sz="1350" dirty="0"/>
          </a:p>
        </p:txBody>
      </p:sp>
      <p:sp>
        <p:nvSpPr>
          <p:cNvPr id="19" name="bar-32"/>
          <p:cNvSpPr/>
          <p:nvPr/>
        </p:nvSpPr>
        <p:spPr>
          <a:xfrm>
            <a:off x="10012680" y="3657600"/>
            <a:ext cx="360045" cy="164592"/>
          </a:xfrm>
          <a:prstGeom prst="rect">
            <a:avLst/>
          </a:prstGeom>
          <a:solidFill>
            <a:srgbClr val="F2A93B"/>
          </a:solidFill>
          <a:ln w="12700">
            <a:solidFill>
              <a:srgbClr val="333333"/>
            </a:solidFill>
            <a:prstDash val="solid"/>
          </a:ln>
        </p:spPr>
      </p:sp>
      <p:sp>
        <p:nvSpPr>
          <p:cNvPr id="20" name="Text 18"/>
          <p:cNvSpPr txBox="1"/>
          <p:nvPr/>
        </p:nvSpPr>
        <p:spPr>
          <a:xfrm>
            <a:off x="11109960" y="3575304"/>
            <a:ext cx="274320" cy="329184"/>
          </a:xfrm>
          <a:prstGeom prst="rect">
            <a:avLst/>
          </a:prstGeom>
          <a:noFill/>
          <a:ln/>
        </p:spPr>
        <p:txBody>
          <a:bodyPr wrap="square" lIns="0" tIns="0" rIns="0" bIns="0" rtlCol="0" anchor="ctr"/>
          <a:lstStyle/>
          <a:p>
            <a:pPr indent="0" marL="0">
              <a:buNone/>
            </a:pPr>
            <a:r>
              <a:rPr lang="en-US" sz="1350" b="1" dirty="0">
                <a:solidFill>
                  <a:srgbClr val="FFFFFF"/>
                </a:solidFill>
              </a:rPr>
              <a:t>3</a:t>
            </a:r>
            <a:endParaRPr lang="en-US" sz="1350" dirty="0"/>
          </a:p>
        </p:txBody>
      </p:sp>
      <p:sp>
        <p:nvSpPr>
          <p:cNvPr id="21" name="Text 19"/>
          <p:cNvSpPr txBox="1"/>
          <p:nvPr/>
        </p:nvSpPr>
        <p:spPr>
          <a:xfrm>
            <a:off x="7909560" y="4050792"/>
            <a:ext cx="2103120" cy="329184"/>
          </a:xfrm>
          <a:prstGeom prst="rect">
            <a:avLst/>
          </a:prstGeom>
          <a:noFill/>
          <a:ln/>
        </p:spPr>
        <p:txBody>
          <a:bodyPr wrap="square" lIns="0" tIns="0" rIns="0" bIns="0" rtlCol="0" anchor="ctr"/>
          <a:lstStyle/>
          <a:p>
            <a:pPr indent="0" marL="0">
              <a:buNone/>
            </a:pPr>
            <a:r>
              <a:rPr lang="en-US" sz="1350" dirty="0">
                <a:solidFill>
                  <a:srgbClr val="8FB8BE"/>
                </a:solidFill>
              </a:rPr>
              <a:t>Bedroom</a:t>
            </a:r>
            <a:endParaRPr lang="en-US" sz="1350" dirty="0"/>
          </a:p>
        </p:txBody>
      </p:sp>
      <p:sp>
        <p:nvSpPr>
          <p:cNvPr id="22" name="bar-33"/>
          <p:cNvSpPr/>
          <p:nvPr/>
        </p:nvSpPr>
        <p:spPr>
          <a:xfrm>
            <a:off x="10012680" y="4133088"/>
            <a:ext cx="360045" cy="164592"/>
          </a:xfrm>
          <a:prstGeom prst="rect">
            <a:avLst/>
          </a:prstGeom>
          <a:solidFill>
            <a:srgbClr val="F2A93B"/>
          </a:solidFill>
          <a:ln w="12700">
            <a:solidFill>
              <a:srgbClr val="333333"/>
            </a:solidFill>
            <a:prstDash val="solid"/>
          </a:ln>
        </p:spPr>
      </p:sp>
      <p:sp>
        <p:nvSpPr>
          <p:cNvPr id="23" name="Text 21"/>
          <p:cNvSpPr txBox="1"/>
          <p:nvPr/>
        </p:nvSpPr>
        <p:spPr>
          <a:xfrm>
            <a:off x="11109960" y="4050792"/>
            <a:ext cx="274320" cy="329184"/>
          </a:xfrm>
          <a:prstGeom prst="rect">
            <a:avLst/>
          </a:prstGeom>
          <a:noFill/>
          <a:ln/>
        </p:spPr>
        <p:txBody>
          <a:bodyPr wrap="square" lIns="0" tIns="0" rIns="0" bIns="0" rtlCol="0" anchor="ctr"/>
          <a:lstStyle/>
          <a:p>
            <a:pPr indent="0" marL="0">
              <a:buNone/>
            </a:pPr>
            <a:r>
              <a:rPr lang="en-US" sz="1350" b="1" dirty="0">
                <a:solidFill>
                  <a:srgbClr val="FFFFFF"/>
                </a:solidFill>
              </a:rPr>
              <a:t>3</a:t>
            </a:r>
            <a:endParaRPr lang="en-US" sz="1350" dirty="0"/>
          </a:p>
        </p:txBody>
      </p:sp>
      <p:sp>
        <p:nvSpPr>
          <p:cNvPr id="24" name="Text 22"/>
          <p:cNvSpPr txBox="1"/>
          <p:nvPr/>
        </p:nvSpPr>
        <p:spPr>
          <a:xfrm>
            <a:off x="7909560" y="4526280"/>
            <a:ext cx="2103120" cy="329184"/>
          </a:xfrm>
          <a:prstGeom prst="rect">
            <a:avLst/>
          </a:prstGeom>
          <a:noFill/>
          <a:ln/>
        </p:spPr>
        <p:txBody>
          <a:bodyPr wrap="square" lIns="0" tIns="0" rIns="0" bIns="0" rtlCol="0" anchor="ctr"/>
          <a:lstStyle/>
          <a:p>
            <a:pPr indent="0" marL="0">
              <a:buNone/>
            </a:pPr>
            <a:r>
              <a:rPr lang="en-US" sz="1350" dirty="0">
                <a:solidFill>
                  <a:srgbClr val="8FB8BE"/>
                </a:solidFill>
              </a:rPr>
              <a:t>Staircase</a:t>
            </a:r>
            <a:endParaRPr lang="en-US" sz="1350" dirty="0"/>
          </a:p>
        </p:txBody>
      </p:sp>
      <p:sp>
        <p:nvSpPr>
          <p:cNvPr id="25" name="bar-34"/>
          <p:cNvSpPr/>
          <p:nvPr/>
        </p:nvSpPr>
        <p:spPr>
          <a:xfrm>
            <a:off x="10012680" y="4608576"/>
            <a:ext cx="360045" cy="164592"/>
          </a:xfrm>
          <a:prstGeom prst="rect">
            <a:avLst/>
          </a:prstGeom>
          <a:solidFill>
            <a:srgbClr val="F2A93B"/>
          </a:solidFill>
          <a:ln w="12700">
            <a:solidFill>
              <a:srgbClr val="333333"/>
            </a:solidFill>
            <a:prstDash val="solid"/>
          </a:ln>
        </p:spPr>
      </p:sp>
      <p:sp>
        <p:nvSpPr>
          <p:cNvPr id="26" name="Text 24"/>
          <p:cNvSpPr txBox="1"/>
          <p:nvPr/>
        </p:nvSpPr>
        <p:spPr>
          <a:xfrm>
            <a:off x="11109960" y="4526280"/>
            <a:ext cx="274320" cy="329184"/>
          </a:xfrm>
          <a:prstGeom prst="rect">
            <a:avLst/>
          </a:prstGeom>
          <a:noFill/>
          <a:ln/>
        </p:spPr>
        <p:txBody>
          <a:bodyPr wrap="square" lIns="0" tIns="0" rIns="0" bIns="0" rtlCol="0" anchor="ctr"/>
          <a:lstStyle/>
          <a:p>
            <a:pPr indent="0" marL="0">
              <a:buNone/>
            </a:pPr>
            <a:r>
              <a:rPr lang="en-US" sz="1350" b="1" dirty="0">
                <a:solidFill>
                  <a:srgbClr val="FFFFFF"/>
                </a:solidFill>
              </a:rPr>
              <a:t>3</a:t>
            </a:r>
            <a:endParaRPr lang="en-US" sz="1350" dirty="0"/>
          </a:p>
        </p:txBody>
      </p:sp>
      <p:sp>
        <p:nvSpPr>
          <p:cNvPr id="27" name="Text 25"/>
          <p:cNvSpPr txBox="1"/>
          <p:nvPr/>
        </p:nvSpPr>
        <p:spPr>
          <a:xfrm>
            <a:off x="7909560" y="5001768"/>
            <a:ext cx="2103120" cy="329184"/>
          </a:xfrm>
          <a:prstGeom prst="rect">
            <a:avLst/>
          </a:prstGeom>
          <a:noFill/>
          <a:ln/>
        </p:spPr>
        <p:txBody>
          <a:bodyPr wrap="square" lIns="0" tIns="0" rIns="0" bIns="0" rtlCol="0" anchor="ctr"/>
          <a:lstStyle/>
          <a:p>
            <a:pPr indent="0" marL="0">
              <a:buNone/>
            </a:pPr>
            <a:r>
              <a:rPr lang="en-US" sz="1350" dirty="0">
                <a:solidFill>
                  <a:srgbClr val="8FB8BE"/>
                </a:solidFill>
              </a:rPr>
              <a:t>Hallway</a:t>
            </a:r>
            <a:endParaRPr lang="en-US" sz="1350" dirty="0"/>
          </a:p>
        </p:txBody>
      </p:sp>
      <p:sp>
        <p:nvSpPr>
          <p:cNvPr id="28" name="bar-35"/>
          <p:cNvSpPr/>
          <p:nvPr/>
        </p:nvSpPr>
        <p:spPr>
          <a:xfrm>
            <a:off x="10012680" y="5084064"/>
            <a:ext cx="240030" cy="164592"/>
          </a:xfrm>
          <a:prstGeom prst="rect">
            <a:avLst/>
          </a:prstGeom>
          <a:solidFill>
            <a:srgbClr val="F2A93B"/>
          </a:solidFill>
          <a:ln w="12700">
            <a:solidFill>
              <a:srgbClr val="333333"/>
            </a:solidFill>
            <a:prstDash val="solid"/>
          </a:ln>
        </p:spPr>
      </p:sp>
      <p:sp>
        <p:nvSpPr>
          <p:cNvPr id="29" name="Text 27"/>
          <p:cNvSpPr txBox="1"/>
          <p:nvPr/>
        </p:nvSpPr>
        <p:spPr>
          <a:xfrm>
            <a:off x="11109960" y="5001768"/>
            <a:ext cx="274320" cy="329184"/>
          </a:xfrm>
          <a:prstGeom prst="rect">
            <a:avLst/>
          </a:prstGeom>
          <a:noFill/>
          <a:ln/>
        </p:spPr>
        <p:txBody>
          <a:bodyPr wrap="square" lIns="0" tIns="0" rIns="0" bIns="0" rtlCol="0" anchor="ctr"/>
          <a:lstStyle/>
          <a:p>
            <a:pPr indent="0" marL="0">
              <a:buNone/>
            </a:pPr>
            <a:r>
              <a:rPr lang="en-US" sz="1350" b="1" dirty="0">
                <a:solidFill>
                  <a:srgbClr val="FFFFFF"/>
                </a:solidFill>
              </a:rPr>
              <a:t>2</a:t>
            </a:r>
            <a:endParaRPr lang="en-US" sz="1350" dirty="0"/>
          </a:p>
        </p:txBody>
      </p:sp>
      <p:sp>
        <p:nvSpPr>
          <p:cNvPr id="30" name="Text 28"/>
          <p:cNvSpPr txBox="1"/>
          <p:nvPr/>
        </p:nvSpPr>
        <p:spPr>
          <a:xfrm>
            <a:off x="7909560" y="5349240"/>
            <a:ext cx="3383280" cy="274320"/>
          </a:xfrm>
          <a:prstGeom prst="rect">
            <a:avLst/>
          </a:prstGeom>
          <a:noFill/>
          <a:ln/>
        </p:spPr>
        <p:txBody>
          <a:bodyPr wrap="square" lIns="0" tIns="0" rIns="0" bIns="0" rtlCol="0" anchor="ctr"/>
          <a:lstStyle/>
          <a:p>
            <a:pPr indent="0" marL="0">
              <a:buNone/>
            </a:pPr>
            <a:r>
              <a:rPr lang="en-US" sz="1200" i="1" dirty="0">
                <a:solidFill>
                  <a:srgbClr val="8FB8BE"/>
                </a:solidFill>
              </a:rPr>
              <a:t>27 real  ·  7 safe</a:t>
            </a:r>
            <a:endParaRPr lang="en-US" sz="1200" dirty="0"/>
          </a:p>
        </p:txBody>
      </p:sp>
      <p:sp>
        <p:nvSpPr>
          <p:cNvPr id="25" name="Slide Number Placeholder 0"/>
          <p:cNvSpPr>
            <a:spLocks noGrp="1"/>
          </p:cNvSpPr>
          <p:nvPr>
            <p:ph type="sldNum" sz="quarter" idx="4294967295"/>
          </p:nvPr>
        </p:nvSpPr>
        <p:spPr>
          <a:xfrm>
            <a:off x="114300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7A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indent="0" marL="0">
              <a:buNone/>
            </a:pPr>
            <a:r>
              <a:rPr lang="en-US" sz="3600" b="1" dirty="0">
                <a:solidFill>
                  <a:srgbClr val="0E3A42"/>
                </a:solidFill>
              </a:rPr>
              <a:t>Task 2 — Holding the rail, and the stairs</a:t>
            </a:r>
            <a:endParaRPr lang="en-US" sz="3600" dirty="0"/>
          </a:p>
        </p:txBody>
      </p:sp>
      <p:sp>
        <p:nvSpPr>
          <p:cNvPr id="3" name="Text 1"/>
          <p:cNvSpPr txBox="1"/>
          <p:nvPr/>
        </p:nvSpPr>
        <p:spPr>
          <a:xfrm>
            <a:off x="548640" y="1325880"/>
            <a:ext cx="5760720" cy="1371600"/>
          </a:xfrm>
          <a:prstGeom prst="rect">
            <a:avLst/>
          </a:prstGeom>
          <a:noFill/>
          <a:ln/>
        </p:spPr>
        <p:txBody>
          <a:bodyPr wrap="square" lIns="0" tIns="0" rIns="0" bIns="0" rtlCol="0" anchor="t"/>
          <a:lstStyle/>
          <a:p>
            <a:pPr indent="0" marL="0">
              <a:lnSpc>
                <a:spcPct val="115000"/>
              </a:lnSpc>
              <a:buNone/>
            </a:pPr>
            <a:r>
              <a:rPr lang="en-US" sz="1450" dirty="0">
                <a:solidFill>
                  <a:schemeClr val="tx1"/>
                </a:solidFill>
              </a:rPr>
              <a:t>We measure how much of the stairs they held the rail for, not just whether they touched it once. The pass mark is 60%, which is generous: letting go for a moment to open a door is normal.</a:t>
            </a:r>
            <a:endParaRPr lang="en-US" sz="1450" dirty="0"/>
          </a:p>
        </p:txBody>
      </p:sp>
      <p:sp>
        <p:nvSpPr>
          <p:cNvPr id="4" name="card-36"/>
          <p:cNvSpPr/>
          <p:nvPr/>
        </p:nvSpPr>
        <p:spPr>
          <a:xfrm>
            <a:off x="548640" y="2880360"/>
            <a:ext cx="5760720" cy="2834640"/>
          </a:xfrm>
          <a:prstGeom prst="roundRect">
            <a:avLst>
              <a:gd name="adj" fmla="val 3226"/>
            </a:avLst>
          </a:prstGeom>
          <a:solidFill>
            <a:srgbClr val="EEF3F4"/>
          </a:solidFill>
          <a:ln w="12700">
            <a:solidFill>
              <a:srgbClr val="FFFFFF"/>
            </a:solidFill>
            <a:prstDash val="solid"/>
          </a:ln>
        </p:spPr>
      </p:sp>
      <p:sp>
        <p:nvSpPr>
          <p:cNvPr id="5" name="Text 3"/>
          <p:cNvSpPr txBox="1"/>
          <p:nvPr/>
        </p:nvSpPr>
        <p:spPr>
          <a:xfrm>
            <a:off x="868680" y="3108960"/>
            <a:ext cx="5120640" cy="310896"/>
          </a:xfrm>
          <a:prstGeom prst="rect">
            <a:avLst/>
          </a:prstGeom>
          <a:noFill/>
          <a:ln/>
        </p:spPr>
        <p:txBody>
          <a:bodyPr wrap="square" lIns="0" tIns="0" rIns="0" bIns="0" rtlCol="0" anchor="ctr"/>
          <a:lstStyle/>
          <a:p>
            <a:pPr indent="0" marL="0">
              <a:buNone/>
            </a:pPr>
            <a:r>
              <a:rPr lang="en-US" sz="1900" b="1" dirty="0">
                <a:solidFill>
                  <a:schemeClr val="tx2"/>
                </a:solidFill>
              </a:rPr>
              <a:t>A gap we had to close</a:t>
            </a:r>
            <a:endParaRPr lang="en-US" sz="1900" dirty="0"/>
          </a:p>
        </p:txBody>
      </p:sp>
      <p:sp>
        <p:nvSpPr>
          <p:cNvPr id="6" name="Text 4"/>
          <p:cNvSpPr txBox="1"/>
          <p:nvPr/>
        </p:nvSpPr>
        <p:spPr>
          <a:xfrm>
            <a:off x="868680" y="3566160"/>
            <a:ext cx="5120640" cy="1920240"/>
          </a:xfrm>
          <a:prstGeom prst="rect">
            <a:avLst/>
          </a:prstGeom>
          <a:noFill/>
          <a:ln/>
        </p:spPr>
        <p:txBody>
          <a:bodyPr wrap="square" lIns="0" tIns="0" rIns="0" bIns="0" rtlCol="0" anchor="t"/>
          <a:lstStyle/>
          <a:p>
            <a:pPr indent="0" marL="0">
              <a:lnSpc>
                <a:spcPct val="115000"/>
              </a:lnSpc>
              <a:buNone/>
            </a:pPr>
            <a:r>
              <a:rPr lang="en-US" sz="1350" dirty="0">
                <a:solidFill>
                  <a:schemeClr val="tx1"/>
                </a:solidFill>
              </a:rPr>
              <a:t>You get around by pointing at where you want to be. That let someone stand at the top of the stairs, point at the hallway below, and arrive there at once. They never walked the steps, so the rail was never measured, and it looked like a perfect run.</a:t>
            </a:r>
            <a:endParaRPr lang="en-US" sz="1350" dirty="0"/>
          </a:p>
        </p:txBody>
      </p:sp>
      <p:sp>
        <p:nvSpPr>
          <p:cNvPr id="7" name="card-37"/>
          <p:cNvSpPr/>
          <p:nvPr/>
        </p:nvSpPr>
        <p:spPr>
          <a:xfrm>
            <a:off x="6675120" y="1371600"/>
            <a:ext cx="4937760" cy="4343400"/>
          </a:xfrm>
          <a:prstGeom prst="roundRect">
            <a:avLst>
              <a:gd name="adj" fmla="val 2105"/>
            </a:avLst>
          </a:prstGeom>
          <a:solidFill>
            <a:srgbClr val="0E3A42"/>
          </a:solidFill>
          <a:ln w="12700">
            <a:solidFill>
              <a:srgbClr val="FFFFFF"/>
            </a:solidFill>
            <a:prstDash val="solid"/>
          </a:ln>
        </p:spPr>
      </p:sp>
      <p:sp>
        <p:nvSpPr>
          <p:cNvPr id="8" name="Text 6"/>
          <p:cNvSpPr txBox="1"/>
          <p:nvPr/>
        </p:nvSpPr>
        <p:spPr>
          <a:xfrm>
            <a:off x="6995160" y="1627632"/>
            <a:ext cx="4297680" cy="365760"/>
          </a:xfrm>
          <a:prstGeom prst="rect">
            <a:avLst/>
          </a:prstGeom>
          <a:noFill/>
          <a:ln/>
        </p:spPr>
        <p:txBody>
          <a:bodyPr wrap="square" lIns="0" tIns="0" rIns="0" bIns="0" rtlCol="0" anchor="ctr"/>
          <a:lstStyle/>
          <a:p>
            <a:pPr indent="0" marL="0">
              <a:buNone/>
            </a:pPr>
            <a:r>
              <a:rPr lang="en-US" sz="1700" b="1" dirty="0">
                <a:solidFill>
                  <a:srgbClr val="FFFFFF"/>
                </a:solidFill>
              </a:rPr>
              <a:t>The fix, in three parts</a:t>
            </a:r>
            <a:endParaRPr lang="en-US" sz="1700" dirty="0"/>
          </a:p>
        </p:txBody>
      </p:sp>
      <p:sp>
        <p:nvSpPr>
          <p:cNvPr id="9" name="chip-38"/>
          <p:cNvSpPr/>
          <p:nvPr/>
        </p:nvSpPr>
        <p:spPr>
          <a:xfrm>
            <a:off x="6995160" y="2240280"/>
            <a:ext cx="420624" cy="420624"/>
          </a:xfrm>
          <a:prstGeom prst="ellipse">
            <a:avLst/>
          </a:prstGeom>
          <a:solidFill>
            <a:srgbClr val="F2A93B"/>
          </a:solidFill>
          <a:ln w="12700">
            <a:solidFill>
              <a:srgbClr val="333333"/>
            </a:solidFill>
            <a:prstDash val="solid"/>
          </a:ln>
        </p:spPr>
      </p:sp>
      <p:sp>
        <p:nvSpPr>
          <p:cNvPr id="10" name="Text 8"/>
          <p:cNvSpPr txBox="1"/>
          <p:nvPr/>
        </p:nvSpPr>
        <p:spPr>
          <a:xfrm>
            <a:off x="6995160" y="2240280"/>
            <a:ext cx="420624" cy="420624"/>
          </a:xfrm>
          <a:prstGeom prst="rect">
            <a:avLst/>
          </a:prstGeom>
          <a:noFill/>
          <a:ln/>
        </p:spPr>
        <p:txBody>
          <a:bodyPr wrap="square" lIns="0" tIns="0" rIns="0" bIns="0" rtlCol="0" anchor="ctr"/>
          <a:lstStyle/>
          <a:p>
            <a:pPr algn="ctr" indent="0" marL="0">
              <a:buNone/>
            </a:pPr>
            <a:r>
              <a:rPr lang="en-US" sz="1500" b="1" dirty="0">
                <a:solidFill>
                  <a:srgbClr val="16262B"/>
                </a:solidFill>
              </a:rPr>
              <a:t>1</a:t>
            </a:r>
            <a:endParaRPr lang="en-US" sz="1500" dirty="0"/>
          </a:p>
        </p:txBody>
      </p:sp>
      <p:sp>
        <p:nvSpPr>
          <p:cNvPr id="11" name="Text 9"/>
          <p:cNvSpPr txBox="1"/>
          <p:nvPr/>
        </p:nvSpPr>
        <p:spPr>
          <a:xfrm>
            <a:off x="7589520" y="2203704"/>
            <a:ext cx="3749040" cy="1005840"/>
          </a:xfrm>
          <a:prstGeom prst="rect">
            <a:avLst/>
          </a:prstGeom>
          <a:noFill/>
          <a:ln/>
        </p:spPr>
        <p:txBody>
          <a:bodyPr wrap="square" lIns="0" tIns="0" rIns="0" bIns="0" rtlCol="0" anchor="t"/>
          <a:lstStyle/>
          <a:p>
            <a:pPr indent="0" marL="0">
              <a:buNone/>
            </a:pPr>
            <a:r>
              <a:rPr lang="en-US" sz="1350" dirty="0">
                <a:solidFill>
                  <a:srgbClr val="8FB8BE"/>
                </a:solidFill>
              </a:rPr>
              <a:t>The stairs are fenced off, so you cannot point anywhere inside them</a:t>
            </a:r>
            <a:endParaRPr lang="en-US" sz="1350" dirty="0"/>
          </a:p>
        </p:txBody>
      </p:sp>
      <p:sp>
        <p:nvSpPr>
          <p:cNvPr id="12" name="chip-39"/>
          <p:cNvSpPr/>
          <p:nvPr/>
        </p:nvSpPr>
        <p:spPr>
          <a:xfrm>
            <a:off x="6995160" y="3383280"/>
            <a:ext cx="420624" cy="420624"/>
          </a:xfrm>
          <a:prstGeom prst="ellipse">
            <a:avLst/>
          </a:prstGeom>
          <a:solidFill>
            <a:srgbClr val="F2A93B"/>
          </a:solidFill>
          <a:ln w="12700">
            <a:solidFill>
              <a:srgbClr val="333333"/>
            </a:solidFill>
            <a:prstDash val="solid"/>
          </a:ln>
        </p:spPr>
      </p:sp>
      <p:sp>
        <p:nvSpPr>
          <p:cNvPr id="13" name="Text 11"/>
          <p:cNvSpPr txBox="1"/>
          <p:nvPr/>
        </p:nvSpPr>
        <p:spPr>
          <a:xfrm>
            <a:off x="6995160" y="3383280"/>
            <a:ext cx="420624" cy="420624"/>
          </a:xfrm>
          <a:prstGeom prst="rect">
            <a:avLst/>
          </a:prstGeom>
          <a:noFill/>
          <a:ln/>
        </p:spPr>
        <p:txBody>
          <a:bodyPr wrap="square" lIns="0" tIns="0" rIns="0" bIns="0" rtlCol="0" anchor="ctr"/>
          <a:lstStyle/>
          <a:p>
            <a:pPr algn="ctr" indent="0" marL="0">
              <a:buNone/>
            </a:pPr>
            <a:r>
              <a:rPr lang="en-US" sz="1500" b="1" dirty="0">
                <a:solidFill>
                  <a:srgbClr val="16262B"/>
                </a:solidFill>
              </a:rPr>
              <a:t>2</a:t>
            </a:r>
            <a:endParaRPr lang="en-US" sz="1500" dirty="0"/>
          </a:p>
        </p:txBody>
      </p:sp>
      <p:sp>
        <p:nvSpPr>
          <p:cNvPr id="14" name="Text 12"/>
          <p:cNvSpPr txBox="1"/>
          <p:nvPr/>
        </p:nvSpPr>
        <p:spPr>
          <a:xfrm>
            <a:off x="7589520" y="3346704"/>
            <a:ext cx="3749040" cy="1005840"/>
          </a:xfrm>
          <a:prstGeom prst="rect">
            <a:avLst/>
          </a:prstGeom>
          <a:noFill/>
          <a:ln/>
        </p:spPr>
        <p:txBody>
          <a:bodyPr wrap="square" lIns="0" tIns="0" rIns="0" bIns="0" rtlCol="0" anchor="t"/>
          <a:lstStyle/>
          <a:p>
            <a:pPr indent="0" marL="0">
              <a:buNone/>
            </a:pPr>
            <a:r>
              <a:rPr lang="en-US" sz="1350" dirty="0">
                <a:solidFill>
                  <a:srgbClr val="8FB8BE"/>
                </a:solidFill>
              </a:rPr>
              <a:t>Marked discs on the steps are the only places you can go</a:t>
            </a:r>
            <a:endParaRPr lang="en-US" sz="1350" dirty="0"/>
          </a:p>
        </p:txBody>
      </p:sp>
      <p:sp>
        <p:nvSpPr>
          <p:cNvPr id="15" name="chip-40"/>
          <p:cNvSpPr/>
          <p:nvPr/>
        </p:nvSpPr>
        <p:spPr>
          <a:xfrm>
            <a:off x="6995160" y="4526280"/>
            <a:ext cx="420624" cy="420624"/>
          </a:xfrm>
          <a:prstGeom prst="ellipse">
            <a:avLst/>
          </a:prstGeom>
          <a:solidFill>
            <a:srgbClr val="F2A93B"/>
          </a:solidFill>
          <a:ln w="12700">
            <a:solidFill>
              <a:srgbClr val="333333"/>
            </a:solidFill>
            <a:prstDash val="solid"/>
          </a:ln>
        </p:spPr>
      </p:sp>
      <p:sp>
        <p:nvSpPr>
          <p:cNvPr id="16" name="Text 14"/>
          <p:cNvSpPr txBox="1"/>
          <p:nvPr/>
        </p:nvSpPr>
        <p:spPr>
          <a:xfrm>
            <a:off x="6995160" y="4526280"/>
            <a:ext cx="420624" cy="420624"/>
          </a:xfrm>
          <a:prstGeom prst="rect">
            <a:avLst/>
          </a:prstGeom>
          <a:noFill/>
          <a:ln/>
        </p:spPr>
        <p:txBody>
          <a:bodyPr wrap="square" lIns="0" tIns="0" rIns="0" bIns="0" rtlCol="0" anchor="ctr"/>
          <a:lstStyle/>
          <a:p>
            <a:pPr algn="ctr" indent="0" marL="0">
              <a:buNone/>
            </a:pPr>
            <a:r>
              <a:rPr lang="en-US" sz="1500" b="1" dirty="0">
                <a:solidFill>
                  <a:srgbClr val="16262B"/>
                </a:solidFill>
              </a:rPr>
              <a:t>3</a:t>
            </a:r>
            <a:endParaRPr lang="en-US" sz="1500" dirty="0"/>
          </a:p>
        </p:txBody>
      </p:sp>
      <p:sp>
        <p:nvSpPr>
          <p:cNvPr id="17" name="Text 15"/>
          <p:cNvSpPr txBox="1"/>
          <p:nvPr/>
        </p:nvSpPr>
        <p:spPr>
          <a:xfrm>
            <a:off x="7589520" y="4489704"/>
            <a:ext cx="3749040" cy="1005840"/>
          </a:xfrm>
          <a:prstGeom prst="rect">
            <a:avLst/>
          </a:prstGeom>
          <a:noFill/>
          <a:ln/>
        </p:spPr>
        <p:txBody>
          <a:bodyPr wrap="square" lIns="0" tIns="0" rIns="0" bIns="0" rtlCol="0" anchor="t"/>
          <a:lstStyle/>
          <a:p>
            <a:pPr indent="0" marL="0">
              <a:buNone/>
            </a:pPr>
            <a:r>
              <a:rPr lang="en-US" sz="1350" dirty="0">
                <a:solidFill>
                  <a:srgbClr val="8FB8BE"/>
                </a:solidFill>
              </a:rPr>
              <a:t>A disc only lights while the rail is held, and only the next step up or down</a:t>
            </a:r>
            <a:endParaRPr lang="en-US" sz="1350" dirty="0"/>
          </a:p>
        </p:txBody>
      </p:sp>
      <p:sp>
        <p:nvSpPr>
          <p:cNvPr id="18" name="Text 16"/>
          <p:cNvSpPr txBox="1"/>
          <p:nvPr/>
        </p:nvSpPr>
        <p:spPr>
          <a:xfrm>
            <a:off x="6995160" y="5230368"/>
            <a:ext cx="4297680" cy="457200"/>
          </a:xfrm>
          <a:prstGeom prst="rect">
            <a:avLst/>
          </a:prstGeom>
          <a:noFill/>
          <a:ln/>
        </p:spPr>
        <p:txBody>
          <a:bodyPr wrap="square" lIns="0" tIns="0" rIns="0" bIns="0" rtlCol="0" anchor="ctr"/>
          <a:lstStyle/>
          <a:p>
            <a:pPr indent="0" marL="0">
              <a:buNone/>
            </a:pPr>
            <a:r>
              <a:rPr lang="en-US" sz="1250" i="1" dirty="0">
                <a:solidFill>
                  <a:srgbClr val="FFFFFF"/>
                </a:solidFill>
              </a:rPr>
              <a:t>So the stairs are taken one step at a time, up and down, with a hand on the rail. There is no way to skip them.</a:t>
            </a:r>
            <a:endParaRPr lang="en-US" sz="1250" dirty="0"/>
          </a:p>
        </p:txBody>
      </p:sp>
      <p:sp>
        <p:nvSpPr>
          <p:cNvPr id="25" name="Slide Number Placeholder 0"/>
          <p:cNvSpPr>
            <a:spLocks noGrp="1"/>
          </p:cNvSpPr>
          <p:nvPr>
            <p:ph type="sldNum" sz="quarter" idx="4294967295"/>
          </p:nvPr>
        </p:nvSpPr>
        <p:spPr>
          <a:xfrm>
            <a:off x="114300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7A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indent="0" marL="0">
              <a:buNone/>
            </a:pPr>
            <a:r>
              <a:rPr lang="en-US" sz="3600" b="1" dirty="0">
                <a:solidFill>
                  <a:srgbClr val="0E3A42"/>
                </a:solidFill>
              </a:rPr>
              <a:t>Task 3 — Crossing a room without touching anything</a:t>
            </a:r>
            <a:endParaRPr lang="en-US" sz="3600" dirty="0"/>
          </a:p>
        </p:txBody>
      </p:sp>
      <p:sp>
        <p:nvSpPr>
          <p:cNvPr id="3" name="Text 1"/>
          <p:cNvSpPr txBox="1"/>
          <p:nvPr/>
        </p:nvSpPr>
        <p:spPr>
          <a:xfrm>
            <a:off x="548640" y="1325880"/>
            <a:ext cx="11064240" cy="868680"/>
          </a:xfrm>
          <a:prstGeom prst="rect">
            <a:avLst/>
          </a:prstGeom>
          <a:noFill/>
          <a:ln/>
        </p:spPr>
        <p:txBody>
          <a:bodyPr wrap="square" lIns="0" tIns="0" rIns="0" bIns="0" rtlCol="0" anchor="t"/>
          <a:lstStyle/>
          <a:p>
            <a:pPr indent="0" marL="0">
              <a:lnSpc>
                <a:spcPct val="115000"/>
              </a:lnSpc>
              <a:buNone/>
            </a:pPr>
            <a:r>
              <a:rPr lang="en-US" sz="1450" dirty="0">
                <a:solidFill>
                  <a:schemeClr val="tx1"/>
                </a:solidFill>
              </a:rPr>
              <a:t>Spotting something and getting past it are two different skills. Someone can point at the coffee table, name it correctly, and still walk their shin into it. Five rooms and the pavement have a line of rings on the floor, one lit at a time. The walk between two rings is one leg.</a:t>
            </a:r>
            <a:endParaRPr lang="en-US" sz="1450" dirty="0"/>
          </a:p>
        </p:txBody>
      </p:sp>
      <p:sp>
        <p:nvSpPr>
          <p:cNvPr id="4" name="card-41"/>
          <p:cNvSpPr/>
          <p:nvPr/>
        </p:nvSpPr>
        <p:spPr>
          <a:xfrm>
            <a:off x="548640" y="2514600"/>
            <a:ext cx="5349240" cy="1737360"/>
          </a:xfrm>
          <a:prstGeom prst="roundRect">
            <a:avLst>
              <a:gd name="adj" fmla="val 5263"/>
            </a:avLst>
          </a:prstGeom>
          <a:solidFill>
            <a:srgbClr val="EEF3F4"/>
          </a:solidFill>
          <a:ln w="12700">
            <a:solidFill>
              <a:srgbClr val="FFFFFF"/>
            </a:solidFill>
            <a:prstDash val="solid"/>
          </a:ln>
        </p:spPr>
      </p:sp>
      <p:sp>
        <p:nvSpPr>
          <p:cNvPr id="5" name="dot-42"/>
          <p:cNvSpPr/>
          <p:nvPr/>
        </p:nvSpPr>
        <p:spPr>
          <a:xfrm>
            <a:off x="868680" y="2788920"/>
            <a:ext cx="182880" cy="182880"/>
          </a:xfrm>
          <a:prstGeom prst="ellipse">
            <a:avLst/>
          </a:prstGeom>
          <a:solidFill>
            <a:srgbClr val="C4493D"/>
          </a:solidFill>
          <a:ln w="12700">
            <a:solidFill>
              <a:srgbClr val="333333"/>
            </a:solidFill>
            <a:prstDash val="solid"/>
          </a:ln>
        </p:spPr>
      </p:sp>
      <p:sp>
        <p:nvSpPr>
          <p:cNvPr id="6" name="Text 4"/>
          <p:cNvSpPr txBox="1"/>
          <p:nvPr/>
        </p:nvSpPr>
        <p:spPr>
          <a:xfrm>
            <a:off x="1207008" y="2697480"/>
            <a:ext cx="4389120" cy="365760"/>
          </a:xfrm>
          <a:prstGeom prst="rect">
            <a:avLst/>
          </a:prstGeom>
          <a:noFill/>
          <a:ln/>
        </p:spPr>
        <p:txBody>
          <a:bodyPr wrap="square" lIns="0" tIns="0" rIns="0" bIns="0" rtlCol="0" anchor="ctr"/>
          <a:lstStyle/>
          <a:p>
            <a:pPr indent="0" marL="0">
              <a:buNone/>
            </a:pPr>
            <a:r>
              <a:rPr lang="en-US" sz="1600" b="1" dirty="0">
                <a:solidFill>
                  <a:srgbClr val="0E3A42"/>
                </a:solidFill>
              </a:rPr>
              <a:t>A leg fails if you touch something</a:t>
            </a:r>
            <a:endParaRPr lang="en-US" sz="1600" dirty="0"/>
          </a:p>
        </p:txBody>
      </p:sp>
      <p:sp>
        <p:nvSpPr>
          <p:cNvPr id="7" name="Text 5"/>
          <p:cNvSpPr txBox="1"/>
          <p:nvPr/>
        </p:nvSpPr>
        <p:spPr>
          <a:xfrm>
            <a:off x="1207008" y="3127248"/>
            <a:ext cx="4434840" cy="1005840"/>
          </a:xfrm>
          <a:prstGeom prst="rect">
            <a:avLst/>
          </a:prstGeom>
          <a:noFill/>
          <a:ln/>
        </p:spPr>
        <p:txBody>
          <a:bodyPr wrap="square" lIns="0" tIns="0" rIns="0" bIns="0" rtlCol="0" anchor="t"/>
          <a:lstStyle/>
          <a:p>
            <a:pPr indent="0" marL="0">
              <a:buNone/>
            </a:pPr>
            <a:r>
              <a:rPr lang="en-US" sz="1300" dirty="0">
                <a:solidFill>
                  <a:schemeClr val="tx2"/>
                </a:solidFill>
              </a:rPr>
              <a:t>You stepped on the wet floor, the wire or the footstool on the way. This half catches careless walking.</a:t>
            </a:r>
            <a:endParaRPr lang="en-US" sz="1300" dirty="0"/>
          </a:p>
        </p:txBody>
      </p:sp>
      <p:sp>
        <p:nvSpPr>
          <p:cNvPr id="8" name="card-43"/>
          <p:cNvSpPr/>
          <p:nvPr/>
        </p:nvSpPr>
        <p:spPr>
          <a:xfrm>
            <a:off x="6263640" y="2514600"/>
            <a:ext cx="5349240" cy="1737360"/>
          </a:xfrm>
          <a:prstGeom prst="roundRect">
            <a:avLst>
              <a:gd name="adj" fmla="val 5263"/>
            </a:avLst>
          </a:prstGeom>
          <a:solidFill>
            <a:srgbClr val="EEF3F4"/>
          </a:solidFill>
          <a:ln w="12700">
            <a:solidFill>
              <a:srgbClr val="FFFFFF"/>
            </a:solidFill>
            <a:prstDash val="solid"/>
          </a:ln>
        </p:spPr>
      </p:sp>
      <p:sp>
        <p:nvSpPr>
          <p:cNvPr id="9" name="dot-44"/>
          <p:cNvSpPr/>
          <p:nvPr/>
        </p:nvSpPr>
        <p:spPr>
          <a:xfrm>
            <a:off x="6583680" y="2788920"/>
            <a:ext cx="182880" cy="182880"/>
          </a:xfrm>
          <a:prstGeom prst="ellipse">
            <a:avLst/>
          </a:prstGeom>
          <a:solidFill>
            <a:srgbClr val="F2A93B"/>
          </a:solidFill>
          <a:ln w="12700">
            <a:solidFill>
              <a:srgbClr val="333333"/>
            </a:solidFill>
            <a:prstDash val="solid"/>
          </a:ln>
        </p:spPr>
      </p:sp>
      <p:sp>
        <p:nvSpPr>
          <p:cNvPr id="10" name="Text 8"/>
          <p:cNvSpPr txBox="1"/>
          <p:nvPr/>
        </p:nvSpPr>
        <p:spPr>
          <a:xfrm>
            <a:off x="6922008" y="2697480"/>
            <a:ext cx="4389120" cy="365760"/>
          </a:xfrm>
          <a:prstGeom prst="rect">
            <a:avLst/>
          </a:prstGeom>
          <a:noFill/>
          <a:ln/>
        </p:spPr>
        <p:txBody>
          <a:bodyPr wrap="square" lIns="0" tIns="0" rIns="0" bIns="0" rtlCol="0" anchor="ctr"/>
          <a:lstStyle/>
          <a:p>
            <a:pPr indent="0" marL="0">
              <a:buNone/>
            </a:pPr>
            <a:r>
              <a:rPr lang="en-US" sz="1600" b="1" dirty="0">
                <a:solidFill>
                  <a:srgbClr val="0E3A42"/>
                </a:solidFill>
              </a:rPr>
              <a:t>A leg fails if your route went through it</a:t>
            </a:r>
            <a:endParaRPr lang="en-US" sz="1600" dirty="0"/>
          </a:p>
        </p:txBody>
      </p:sp>
      <p:sp>
        <p:nvSpPr>
          <p:cNvPr id="11" name="Text 9"/>
          <p:cNvSpPr txBox="1"/>
          <p:nvPr/>
        </p:nvSpPr>
        <p:spPr>
          <a:xfrm>
            <a:off x="6922008" y="3127248"/>
            <a:ext cx="4434840" cy="1005840"/>
          </a:xfrm>
          <a:prstGeom prst="rect">
            <a:avLst/>
          </a:prstGeom>
          <a:noFill/>
          <a:ln/>
        </p:spPr>
        <p:txBody>
          <a:bodyPr wrap="square" lIns="0" tIns="0" rIns="0" bIns="0" rtlCol="0" anchor="t"/>
          <a:lstStyle/>
          <a:p>
            <a:pPr indent="0" marL="0">
              <a:buNone/>
            </a:pPr>
            <a:r>
              <a:rPr lang="en-US" sz="1300" dirty="0">
                <a:solidFill>
                  <a:schemeClr val="tx2"/>
                </a:solidFill>
              </a:rPr>
              <a:t>We record where you walked every 12 cm and check the whole path. Going round the table counts as going round it. Jumping over it does not.</a:t>
            </a:r>
            <a:endParaRPr lang="en-US" sz="1300" dirty="0"/>
          </a:p>
        </p:txBody>
      </p:sp>
      <p:sp>
        <p:nvSpPr>
          <p:cNvPr id="12" name="Text 10"/>
          <p:cNvSpPr txBox="1"/>
          <p:nvPr/>
        </p:nvSpPr>
        <p:spPr>
          <a:xfrm>
            <a:off x="548640" y="4572000"/>
            <a:ext cx="11064240" cy="310896"/>
          </a:xfrm>
          <a:prstGeom prst="rect">
            <a:avLst/>
          </a:prstGeom>
          <a:noFill/>
          <a:ln/>
        </p:spPr>
        <p:txBody>
          <a:bodyPr wrap="square" lIns="0" tIns="0" rIns="0" bIns="0" rtlCol="0" anchor="ctr"/>
          <a:lstStyle/>
          <a:p>
            <a:pPr indent="0" marL="0">
              <a:buNone/>
            </a:pPr>
            <a:r>
              <a:rPr lang="en-US" sz="1900" b="1" dirty="0">
                <a:solidFill>
                  <a:schemeClr val="tx2"/>
                </a:solidFill>
              </a:rPr>
              <a:t>The walks are meant to be awkward</a:t>
            </a:r>
            <a:endParaRPr lang="en-US" sz="1900" dirty="0"/>
          </a:p>
        </p:txBody>
      </p:sp>
      <p:sp>
        <p:nvSpPr>
          <p:cNvPr id="13" name="Text 11"/>
          <p:cNvSpPr txBox="1"/>
          <p:nvPr/>
        </p:nvSpPr>
        <p:spPr>
          <a:xfrm>
            <a:off x="548640" y="5029200"/>
            <a:ext cx="11064240" cy="1097280"/>
          </a:xfrm>
          <a:prstGeom prst="rect">
            <a:avLst/>
          </a:prstGeom>
          <a:noFill/>
          <a:ln/>
        </p:spPr>
        <p:txBody>
          <a:bodyPr wrap="square" lIns="0" tIns="0" rIns="0" bIns="0" rtlCol="0" anchor="t"/>
          <a:lstStyle/>
          <a:p>
            <a:pPr indent="0" marL="0">
              <a:lnSpc>
                <a:spcPct val="115000"/>
              </a:lnSpc>
              <a:buNone/>
            </a:pPr>
            <a:r>
              <a:rPr lang="en-US" sz="1450" dirty="0">
                <a:solidFill>
                  <a:schemeClr val="tx1"/>
                </a:solidFill>
              </a:rPr>
              <a:t>Rings in a straight, safe line would test nothing. In 13 of the 26 walks the direct route is blocked: the rug edge runs across the hall, the cupboard door stands open in the kitchen. Before any ring was placed, the computer checked that a safe way round really exists.</a:t>
            </a:r>
            <a:endParaRPr lang="en-US" sz="1450" dirty="0"/>
          </a:p>
        </p:txBody>
      </p:sp>
      <p:sp>
        <p:nvSpPr>
          <p:cNvPr id="25" name="Slide Number Placeholder 0"/>
          <p:cNvSpPr>
            <a:spLocks noGrp="1"/>
          </p:cNvSpPr>
          <p:nvPr>
            <p:ph type="sldNum" sz="quarter" idx="4294967295"/>
          </p:nvPr>
        </p:nvSpPr>
        <p:spPr>
          <a:xfrm>
            <a:off x="114300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7A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indent="0" marL="0">
              <a:buNone/>
            </a:pPr>
            <a:r>
              <a:rPr lang="en-US" sz="3600" b="1" dirty="0">
                <a:solidFill>
                  <a:srgbClr val="0E3A42"/>
                </a:solidFill>
              </a:rPr>
              <a:t>Tasks 4 and 5 — Reaching, and crossing the road</a:t>
            </a:r>
            <a:endParaRPr lang="en-US" sz="3600" dirty="0"/>
          </a:p>
        </p:txBody>
      </p:sp>
      <p:sp>
        <p:nvSpPr>
          <p:cNvPr id="3" name="Text 1"/>
          <p:cNvSpPr txBox="1"/>
          <p:nvPr/>
        </p:nvSpPr>
        <p:spPr>
          <a:xfrm>
            <a:off x="548640" y="1325880"/>
            <a:ext cx="5394960" cy="310896"/>
          </a:xfrm>
          <a:prstGeom prst="rect">
            <a:avLst/>
          </a:prstGeom>
          <a:noFill/>
          <a:ln/>
        </p:spPr>
        <p:txBody>
          <a:bodyPr wrap="square" lIns="0" tIns="0" rIns="0" bIns="0" rtlCol="0" anchor="ctr"/>
          <a:lstStyle/>
          <a:p>
            <a:pPr indent="0" marL="0">
              <a:buNone/>
            </a:pPr>
            <a:r>
              <a:rPr lang="en-US" sz="1900" b="1" dirty="0">
                <a:solidFill>
                  <a:schemeClr val="tx2"/>
                </a:solidFill>
              </a:rPr>
              <a:t>Balance</a:t>
            </a:r>
            <a:endParaRPr lang="en-US" sz="1900" dirty="0"/>
          </a:p>
        </p:txBody>
      </p:sp>
      <p:sp>
        <p:nvSpPr>
          <p:cNvPr id="4" name="Text 2"/>
          <p:cNvSpPr txBox="1"/>
          <p:nvPr/>
        </p:nvSpPr>
        <p:spPr>
          <a:xfrm>
            <a:off x="548640" y="1755648"/>
            <a:ext cx="5394960" cy="1828800"/>
          </a:xfrm>
          <a:prstGeom prst="rect">
            <a:avLst/>
          </a:prstGeom>
          <a:noFill/>
          <a:ln/>
        </p:spPr>
        <p:txBody>
          <a:bodyPr wrap="square" lIns="0" tIns="0" rIns="0" bIns="0" rtlCol="0" anchor="t"/>
          <a:lstStyle/>
          <a:p>
            <a:pPr indent="0" marL="0">
              <a:lnSpc>
                <a:spcPct val="115000"/>
              </a:lnSpc>
              <a:buNone/>
            </a:pPr>
            <a:r>
              <a:rPr lang="en-US" sz="1450" dirty="0">
                <a:solidFill>
                  <a:schemeClr val="tx1"/>
                </a:solidFill>
              </a:rPr>
              <a:t>Based on a reaching test physiotherapists use. Three goes: one forward, one to each side. A countdown gives them time to settle and says when measuring starts, so they are never scored by surprise.</a:t>
            </a:r>
            <a:endParaRPr lang="en-US" sz="1450" dirty="0"/>
          </a:p>
          <a:p>
            <a:pPr indent="0" marL="0">
              <a:lnSpc>
                <a:spcPct val="115000"/>
              </a:lnSpc>
              <a:buNone/>
            </a:pPr>
            <a:endParaRPr lang="en-US" sz="1450" dirty="0"/>
          </a:p>
          <a:p>
            <a:pPr indent="0" marL="0">
              <a:lnSpc>
                <a:spcPct val="115000"/>
              </a:lnSpc>
              <a:buNone/>
            </a:pPr>
            <a:r>
              <a:rPr lang="en-US" sz="1450" dirty="0">
                <a:solidFill>
                  <a:schemeClr val="tx1"/>
                </a:solidFill>
              </a:rPr>
              <a:t>Wobble is measured from where they were standing at "go", not from a fixed point. Otherwise someone who starts slouched and then stands up straight looks very unsteady for doing the right thing.</a:t>
            </a:r>
            <a:endParaRPr lang="en-US" sz="1450" dirty="0"/>
          </a:p>
        </p:txBody>
      </p:sp>
      <p:sp>
        <p:nvSpPr>
          <p:cNvPr id="5" name="Text 3"/>
          <p:cNvSpPr txBox="1"/>
          <p:nvPr/>
        </p:nvSpPr>
        <p:spPr>
          <a:xfrm>
            <a:off x="6400800" y="1325880"/>
            <a:ext cx="5212080" cy="310896"/>
          </a:xfrm>
          <a:prstGeom prst="rect">
            <a:avLst/>
          </a:prstGeom>
          <a:noFill/>
          <a:ln/>
        </p:spPr>
        <p:txBody>
          <a:bodyPr wrap="square" lIns="0" tIns="0" rIns="0" bIns="0" rtlCol="0" anchor="ctr"/>
          <a:lstStyle/>
          <a:p>
            <a:pPr indent="0" marL="0">
              <a:buNone/>
            </a:pPr>
            <a:r>
              <a:rPr lang="en-US" sz="1900" b="1" dirty="0">
                <a:solidFill>
                  <a:schemeClr val="tx2"/>
                </a:solidFill>
              </a:rPr>
              <a:t>Crossing the road — its own test</a:t>
            </a:r>
            <a:endParaRPr lang="en-US" sz="1900" dirty="0"/>
          </a:p>
        </p:txBody>
      </p:sp>
      <p:sp>
        <p:nvSpPr>
          <p:cNvPr id="6" name="Text 4"/>
          <p:cNvSpPr txBox="1"/>
          <p:nvPr/>
        </p:nvSpPr>
        <p:spPr>
          <a:xfrm>
            <a:off x="6400800" y="1755648"/>
            <a:ext cx="5212080" cy="731520"/>
          </a:xfrm>
          <a:prstGeom prst="rect">
            <a:avLst/>
          </a:prstGeom>
          <a:noFill/>
          <a:ln/>
        </p:spPr>
        <p:txBody>
          <a:bodyPr wrap="square" lIns="0" tIns="0" rIns="0" bIns="0" rtlCol="0" anchor="t"/>
          <a:lstStyle/>
          <a:p>
            <a:pPr indent="0" marL="0">
              <a:lnSpc>
                <a:spcPct val="115000"/>
              </a:lnSpc>
              <a:buNone/>
            </a:pPr>
            <a:r>
              <a:rPr lang="en-US" sz="1350" dirty="0">
                <a:solidFill>
                  <a:schemeClr val="tx1"/>
                </a:solidFill>
              </a:rPr>
              <a:t>Falls outdoors are rarely about the pavement. They are about how someone crosses. So crossing gets its own score out of 100, and is walked there and back.</a:t>
            </a:r>
            <a:endParaRPr lang="en-US" sz="1350" dirty="0"/>
          </a:p>
        </p:txBody>
      </p:sp>
      <p:sp>
        <p:nvSpPr>
          <p:cNvPr id="7" name="card-45"/>
          <p:cNvSpPr/>
          <p:nvPr/>
        </p:nvSpPr>
        <p:spPr>
          <a:xfrm>
            <a:off x="6400800" y="2697480"/>
            <a:ext cx="5212080" cy="841248"/>
          </a:xfrm>
          <a:prstGeom prst="roundRect">
            <a:avLst>
              <a:gd name="adj" fmla="val 10870"/>
            </a:avLst>
          </a:prstGeom>
          <a:solidFill>
            <a:srgbClr val="EEF3F4"/>
          </a:solidFill>
          <a:ln w="12700">
            <a:solidFill>
              <a:srgbClr val="FFFFFF"/>
            </a:solidFill>
            <a:prstDash val="solid"/>
          </a:ln>
        </p:spPr>
      </p:sp>
      <p:sp>
        <p:nvSpPr>
          <p:cNvPr id="8" name="Text 6"/>
          <p:cNvSpPr txBox="1"/>
          <p:nvPr/>
        </p:nvSpPr>
        <p:spPr>
          <a:xfrm>
            <a:off x="6629400" y="2862072"/>
            <a:ext cx="731520" cy="502920"/>
          </a:xfrm>
          <a:prstGeom prst="rect">
            <a:avLst/>
          </a:prstGeom>
          <a:noFill/>
          <a:ln/>
        </p:spPr>
        <p:txBody>
          <a:bodyPr wrap="square" lIns="0" tIns="0" rIns="0" bIns="0" rtlCol="0" anchor="ctr"/>
          <a:lstStyle/>
          <a:p>
            <a:pPr algn="ctr" indent="0" marL="0">
              <a:buNone/>
            </a:pPr>
            <a:r>
              <a:rPr lang="en-US" sz="2500" b="1" dirty="0">
                <a:solidFill>
                  <a:srgbClr val="0E7C86"/>
                </a:solidFill>
              </a:rPr>
              <a:t>35</a:t>
            </a:r>
            <a:endParaRPr lang="en-US" sz="2500" dirty="0"/>
          </a:p>
        </p:txBody>
      </p:sp>
      <p:sp>
        <p:nvSpPr>
          <p:cNvPr id="9" name="Text 7"/>
          <p:cNvSpPr txBox="1"/>
          <p:nvPr/>
        </p:nvSpPr>
        <p:spPr>
          <a:xfrm>
            <a:off x="7452360" y="2816352"/>
            <a:ext cx="3977640" cy="640080"/>
          </a:xfrm>
          <a:prstGeom prst="rect">
            <a:avLst/>
          </a:prstGeom>
          <a:noFill/>
          <a:ln/>
        </p:spPr>
        <p:txBody>
          <a:bodyPr wrap="square" lIns="0" tIns="0" rIns="0" bIns="0" rtlCol="0" anchor="ctr"/>
          <a:lstStyle/>
          <a:p>
            <a:pPr indent="0" marL="0">
              <a:buNone/>
            </a:pPr>
            <a:r>
              <a:rPr lang="en-US" sz="1250" dirty="0">
                <a:solidFill>
                  <a:schemeClr val="tx1"/>
                </a:solidFill>
              </a:rPr>
              <a:t>Pressed the button and waited for the green man</a:t>
            </a:r>
            <a:endParaRPr lang="en-US" sz="1250" dirty="0"/>
          </a:p>
        </p:txBody>
      </p:sp>
      <p:sp>
        <p:nvSpPr>
          <p:cNvPr id="10" name="card-46"/>
          <p:cNvSpPr/>
          <p:nvPr/>
        </p:nvSpPr>
        <p:spPr>
          <a:xfrm>
            <a:off x="6400800" y="3685032"/>
            <a:ext cx="5212080" cy="841248"/>
          </a:xfrm>
          <a:prstGeom prst="roundRect">
            <a:avLst>
              <a:gd name="adj" fmla="val 10870"/>
            </a:avLst>
          </a:prstGeom>
          <a:solidFill>
            <a:srgbClr val="EEF3F4"/>
          </a:solidFill>
          <a:ln w="12700">
            <a:solidFill>
              <a:srgbClr val="FFFFFF"/>
            </a:solidFill>
            <a:prstDash val="solid"/>
          </a:ln>
        </p:spPr>
      </p:sp>
      <p:sp>
        <p:nvSpPr>
          <p:cNvPr id="11" name="Text 9"/>
          <p:cNvSpPr txBox="1"/>
          <p:nvPr/>
        </p:nvSpPr>
        <p:spPr>
          <a:xfrm>
            <a:off x="6629400" y="3849624"/>
            <a:ext cx="731520" cy="502920"/>
          </a:xfrm>
          <a:prstGeom prst="rect">
            <a:avLst/>
          </a:prstGeom>
          <a:noFill/>
          <a:ln/>
        </p:spPr>
        <p:txBody>
          <a:bodyPr wrap="square" lIns="0" tIns="0" rIns="0" bIns="0" rtlCol="0" anchor="ctr"/>
          <a:lstStyle/>
          <a:p>
            <a:pPr algn="ctr" indent="0" marL="0">
              <a:buNone/>
            </a:pPr>
            <a:r>
              <a:rPr lang="en-US" sz="2500" b="1" dirty="0">
                <a:solidFill>
                  <a:srgbClr val="0E7C86"/>
                </a:solidFill>
              </a:rPr>
              <a:t>25</a:t>
            </a:r>
            <a:endParaRPr lang="en-US" sz="2500" dirty="0"/>
          </a:p>
        </p:txBody>
      </p:sp>
      <p:sp>
        <p:nvSpPr>
          <p:cNvPr id="12" name="Text 10"/>
          <p:cNvSpPr txBox="1"/>
          <p:nvPr/>
        </p:nvSpPr>
        <p:spPr>
          <a:xfrm>
            <a:off x="7452360" y="3803904"/>
            <a:ext cx="3977640" cy="640080"/>
          </a:xfrm>
          <a:prstGeom prst="rect">
            <a:avLst/>
          </a:prstGeom>
          <a:noFill/>
          <a:ln/>
        </p:spPr>
        <p:txBody>
          <a:bodyPr wrap="square" lIns="0" tIns="0" rIns="0" bIns="0" rtlCol="0" anchor="ctr"/>
          <a:lstStyle/>
          <a:p>
            <a:pPr indent="0" marL="0">
              <a:buNone/>
            </a:pPr>
            <a:r>
              <a:rPr lang="en-US" sz="1250" dirty="0">
                <a:solidFill>
                  <a:schemeClr val="tx1"/>
                </a:solidFill>
              </a:rPr>
              <a:t>Looked both ways, properly, just before stepping off the kerb</a:t>
            </a:r>
            <a:endParaRPr lang="en-US" sz="1250" dirty="0"/>
          </a:p>
        </p:txBody>
      </p:sp>
      <p:sp>
        <p:nvSpPr>
          <p:cNvPr id="13" name="card-47"/>
          <p:cNvSpPr/>
          <p:nvPr/>
        </p:nvSpPr>
        <p:spPr>
          <a:xfrm>
            <a:off x="6400800" y="4672584"/>
            <a:ext cx="5212080" cy="841248"/>
          </a:xfrm>
          <a:prstGeom prst="roundRect">
            <a:avLst>
              <a:gd name="adj" fmla="val 10870"/>
            </a:avLst>
          </a:prstGeom>
          <a:solidFill>
            <a:srgbClr val="EEF3F4"/>
          </a:solidFill>
          <a:ln w="12700">
            <a:solidFill>
              <a:srgbClr val="FFFFFF"/>
            </a:solidFill>
            <a:prstDash val="solid"/>
          </a:ln>
        </p:spPr>
      </p:sp>
      <p:sp>
        <p:nvSpPr>
          <p:cNvPr id="14" name="Text 12"/>
          <p:cNvSpPr txBox="1"/>
          <p:nvPr/>
        </p:nvSpPr>
        <p:spPr>
          <a:xfrm>
            <a:off x="6629400" y="4837176"/>
            <a:ext cx="731520" cy="502920"/>
          </a:xfrm>
          <a:prstGeom prst="rect">
            <a:avLst/>
          </a:prstGeom>
          <a:noFill/>
          <a:ln/>
        </p:spPr>
        <p:txBody>
          <a:bodyPr wrap="square" lIns="0" tIns="0" rIns="0" bIns="0" rtlCol="0" anchor="ctr"/>
          <a:lstStyle/>
          <a:p>
            <a:pPr algn="ctr" indent="0" marL="0">
              <a:buNone/>
            </a:pPr>
            <a:r>
              <a:rPr lang="en-US" sz="2500" b="1" dirty="0">
                <a:solidFill>
                  <a:srgbClr val="0E7C86"/>
                </a:solidFill>
              </a:rPr>
              <a:t>20</a:t>
            </a:r>
            <a:endParaRPr lang="en-US" sz="2500" dirty="0"/>
          </a:p>
        </p:txBody>
      </p:sp>
      <p:sp>
        <p:nvSpPr>
          <p:cNvPr id="15" name="Text 13"/>
          <p:cNvSpPr txBox="1"/>
          <p:nvPr/>
        </p:nvSpPr>
        <p:spPr>
          <a:xfrm>
            <a:off x="7452360" y="4791456"/>
            <a:ext cx="3977640" cy="640080"/>
          </a:xfrm>
          <a:prstGeom prst="rect">
            <a:avLst/>
          </a:prstGeom>
          <a:noFill/>
          <a:ln/>
        </p:spPr>
        <p:txBody>
          <a:bodyPr wrap="square" lIns="0" tIns="0" rIns="0" bIns="0" rtlCol="0" anchor="ctr"/>
          <a:lstStyle/>
          <a:p>
            <a:pPr indent="0" marL="0">
              <a:buNone/>
            </a:pPr>
            <a:r>
              <a:rPr lang="en-US" sz="1250" dirty="0">
                <a:solidFill>
                  <a:schemeClr val="tx1"/>
                </a:solidFill>
              </a:rPr>
              <a:t>Used the crossing, and left room from the coming car — 10 each</a:t>
            </a:r>
            <a:endParaRPr lang="en-US" sz="1250" dirty="0"/>
          </a:p>
        </p:txBody>
      </p:sp>
      <p:sp>
        <p:nvSpPr>
          <p:cNvPr id="16" name="Text 14"/>
          <p:cNvSpPr txBox="1"/>
          <p:nvPr/>
        </p:nvSpPr>
        <p:spPr>
          <a:xfrm>
            <a:off x="6400800" y="5760720"/>
            <a:ext cx="5212080" cy="548640"/>
          </a:xfrm>
          <a:prstGeom prst="rect">
            <a:avLst/>
          </a:prstGeom>
          <a:noFill/>
          <a:ln/>
        </p:spPr>
        <p:txBody>
          <a:bodyPr wrap="square" lIns="0" tIns="0" rIns="0" bIns="0" rtlCol="0" anchor="ctr"/>
          <a:lstStyle/>
          <a:p>
            <a:pPr indent="0" marL="0">
              <a:buNone/>
            </a:pPr>
            <a:r>
              <a:rPr lang="en-US" sz="1250" i="1" dirty="0">
                <a:solidFill>
                  <a:schemeClr val="tx2"/>
                </a:solidFill>
              </a:rPr>
              <a:t>That decision is 35% of the score. The other 65% is the walk across: setting off without dawdling, staying on the stripes, and being over before the traffic moves. It measures, but it never stops you.</a:t>
            </a:r>
            <a:endParaRPr lang="en-US" sz="1250" dirty="0"/>
          </a:p>
        </p:txBody>
      </p:sp>
      <p:sp>
        <p:nvSpPr>
          <p:cNvPr id="25" name="Slide Number Placeholder 0"/>
          <p:cNvSpPr>
            <a:spLocks noGrp="1"/>
          </p:cNvSpPr>
          <p:nvPr>
            <p:ph type="sldNum" sz="quarter" idx="4294967295"/>
          </p:nvPr>
        </p:nvSpPr>
        <p:spPr>
          <a:xfrm>
            <a:off x="114300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7A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22960" y="2148840"/>
            <a:ext cx="9144000" cy="365760"/>
          </a:xfrm>
          <a:prstGeom prst="rect">
            <a:avLst/>
          </a:prstGeom>
          <a:noFill/>
          <a:ln/>
        </p:spPr>
        <p:txBody>
          <a:bodyPr wrap="square" lIns="0" tIns="0" rIns="0" bIns="0" rtlCol="0" anchor="ctr"/>
          <a:lstStyle/>
          <a:p>
            <a:pPr indent="0" marL="0">
              <a:buNone/>
            </a:pPr>
            <a:r>
              <a:rPr lang="en-US" sz="1500" b="1" spc="200" kern="0" dirty="0">
                <a:solidFill>
                  <a:srgbClr val="F2A93B"/>
                </a:solidFill>
              </a:rPr>
              <a:t>MEASUREMENT</a:t>
            </a:r>
            <a:endParaRPr lang="en-US" sz="1500" dirty="0"/>
          </a:p>
        </p:txBody>
      </p:sp>
      <p:sp>
        <p:nvSpPr>
          <p:cNvPr id="3" name="Text 1"/>
          <p:cNvSpPr txBox="1"/>
          <p:nvPr/>
        </p:nvSpPr>
        <p:spPr>
          <a:xfrm>
            <a:off x="822960" y="2560320"/>
            <a:ext cx="10058400" cy="1005840"/>
          </a:xfrm>
          <a:prstGeom prst="rect">
            <a:avLst/>
          </a:prstGeom>
          <a:noFill/>
          <a:ln/>
        </p:spPr>
        <p:txBody>
          <a:bodyPr wrap="square" lIns="0" tIns="0" rIns="0" bIns="0" rtlCol="0" anchor="ctr"/>
          <a:lstStyle/>
          <a:p>
            <a:pPr indent="0" marL="0">
              <a:buNone/>
            </a:pPr>
            <a:r>
              <a:rPr lang="en-US" sz="4200" b="1" dirty="0">
                <a:solidFill>
                  <a:srgbClr val="FFFFFF"/>
                </a:solidFill>
              </a:rPr>
              <a:t>Scoring, and the part that</a:t>
            </a:r>
            <a:endParaRPr lang="en-US" sz="4200" dirty="0"/>
          </a:p>
          <a:p>
            <a:pPr indent="0" marL="0">
              <a:buNone/>
            </a:pPr>
            <a:r>
              <a:rPr lang="en-US" sz="4200" b="1" dirty="0">
                <a:solidFill>
                  <a:srgbClr val="FFFFFF"/>
                </a:solidFill>
              </a:rPr>
              <a:t>adapts to the participant</a:t>
            </a:r>
            <a:endParaRPr lang="en-US" sz="4200" dirty="0"/>
          </a:p>
        </p:txBody>
      </p:sp>
      <p:sp>
        <p:nvSpPr>
          <p:cNvPr id="4" name="Text 2"/>
          <p:cNvSpPr txBox="1"/>
          <p:nvPr/>
        </p:nvSpPr>
        <p:spPr>
          <a:xfrm>
            <a:off x="822960" y="3657600"/>
            <a:ext cx="8778240" cy="914400"/>
          </a:xfrm>
          <a:prstGeom prst="rect">
            <a:avLst/>
          </a:prstGeom>
          <a:noFill/>
          <a:ln/>
        </p:spPr>
        <p:txBody>
          <a:bodyPr wrap="square" lIns="0" tIns="0" rIns="0" bIns="0" rtlCol="0" anchor="ctr"/>
          <a:lstStyle/>
          <a:p>
            <a:pPr indent="0" marL="0">
              <a:lnSpc>
                <a:spcPct val="120000"/>
              </a:lnSpc>
              <a:buNone/>
            </a:pPr>
            <a:r>
              <a:rPr lang="en-US" sz="1600" dirty="0">
                <a:solidFill>
                  <a:srgbClr val="8FB8BE"/>
                </a:solidFill>
              </a:rPr>
              <a:t>Every test is scored on its own, so the system can tell a participant which specific skill to work on — and then put them there next session.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indent="0" marL="0">
              <a:buNone/>
            </a:pPr>
            <a:r>
              <a:rPr lang="en-US" sz="3600" b="1" dirty="0">
                <a:solidFill>
                  <a:srgbClr val="0E3A42"/>
                </a:solidFill>
              </a:rPr>
              <a:t>How a session is scored</a:t>
            </a:r>
            <a:endParaRPr lang="en-US" sz="3600" dirty="0"/>
          </a:p>
        </p:txBody>
      </p:sp>
      <p:sp>
        <p:nvSpPr>
          <p:cNvPr id="3" name="Text 1"/>
          <p:cNvSpPr txBox="1"/>
          <p:nvPr/>
        </p:nvSpPr>
        <p:spPr>
          <a:xfrm>
            <a:off x="548640" y="1280160"/>
            <a:ext cx="6400800" cy="310896"/>
          </a:xfrm>
          <a:prstGeom prst="rect">
            <a:avLst/>
          </a:prstGeom>
          <a:noFill/>
          <a:ln/>
        </p:spPr>
        <p:txBody>
          <a:bodyPr wrap="square" lIns="0" tIns="0" rIns="0" bIns="0" rtlCol="0" anchor="ctr"/>
          <a:lstStyle/>
          <a:p>
            <a:pPr indent="0" marL="0">
              <a:buNone/>
            </a:pPr>
            <a:r>
              <a:rPr lang="en-US" sz="1900" b="1" dirty="0">
                <a:solidFill>
                  <a:schemeClr val="tx2"/>
                </a:solidFill>
              </a:rPr>
              <a:t>Each room, out of 100</a:t>
            </a:r>
            <a:endParaRPr lang="en-US" sz="1900" dirty="0"/>
          </a:p>
        </p:txBody>
      </p:sp>
      <p:sp>
        <p:nvSpPr>
          <p:cNvPr id="4" name="card-48"/>
          <p:cNvSpPr/>
          <p:nvPr/>
        </p:nvSpPr>
        <p:spPr>
          <a:xfrm>
            <a:off x="548640" y="1783080"/>
            <a:ext cx="6400800" cy="658368"/>
          </a:xfrm>
          <a:prstGeom prst="roundRect">
            <a:avLst>
              <a:gd name="adj" fmla="val 13889"/>
            </a:avLst>
          </a:prstGeom>
          <a:solidFill>
            <a:srgbClr val="EEF3F4"/>
          </a:solidFill>
          <a:ln w="12700">
            <a:solidFill>
              <a:srgbClr val="FFFFFF"/>
            </a:solidFill>
            <a:prstDash val="solid"/>
          </a:ln>
        </p:spPr>
      </p:sp>
      <p:sp>
        <p:nvSpPr>
          <p:cNvPr id="5" name="Text 3"/>
          <p:cNvSpPr txBox="1"/>
          <p:nvPr/>
        </p:nvSpPr>
        <p:spPr>
          <a:xfrm>
            <a:off x="777240" y="1892808"/>
            <a:ext cx="914400" cy="457200"/>
          </a:xfrm>
          <a:prstGeom prst="rect">
            <a:avLst/>
          </a:prstGeom>
          <a:noFill/>
          <a:ln/>
        </p:spPr>
        <p:txBody>
          <a:bodyPr wrap="square" lIns="0" tIns="0" rIns="0" bIns="0" rtlCol="0" anchor="ctr"/>
          <a:lstStyle/>
          <a:p>
            <a:pPr indent="0" marL="0">
              <a:buNone/>
            </a:pPr>
            <a:r>
              <a:rPr lang="en-US" sz="2100" b="1" dirty="0">
                <a:solidFill>
                  <a:srgbClr val="0E7C86"/>
                </a:solidFill>
              </a:rPr>
              <a:t>50%</a:t>
            </a:r>
            <a:endParaRPr lang="en-US" sz="2100" dirty="0"/>
          </a:p>
        </p:txBody>
      </p:sp>
      <p:sp>
        <p:nvSpPr>
          <p:cNvPr id="6" name="Text 4"/>
          <p:cNvSpPr txBox="1"/>
          <p:nvPr/>
        </p:nvSpPr>
        <p:spPr>
          <a:xfrm>
            <a:off x="1783080" y="1874520"/>
            <a:ext cx="4937760" cy="502920"/>
          </a:xfrm>
          <a:prstGeom prst="rect">
            <a:avLst/>
          </a:prstGeom>
          <a:noFill/>
          <a:ln/>
        </p:spPr>
        <p:txBody>
          <a:bodyPr wrap="square" lIns="0" tIns="0" rIns="0" bIns="0" rtlCol="0" anchor="ctr"/>
          <a:lstStyle/>
          <a:p>
            <a:pPr indent="0" marL="0">
              <a:buNone/>
            </a:pPr>
            <a:r>
              <a:rPr lang="en-US" sz="1350" dirty="0">
                <a:solidFill>
                  <a:schemeClr val="tx1"/>
                </a:solidFill>
              </a:rPr>
              <a:t>dangers found in that room</a:t>
            </a:r>
            <a:endParaRPr lang="en-US" sz="1350" dirty="0"/>
          </a:p>
        </p:txBody>
      </p:sp>
      <p:sp>
        <p:nvSpPr>
          <p:cNvPr id="7" name="card-49"/>
          <p:cNvSpPr/>
          <p:nvPr/>
        </p:nvSpPr>
        <p:spPr>
          <a:xfrm>
            <a:off x="548640" y="2569464"/>
            <a:ext cx="6400800" cy="658368"/>
          </a:xfrm>
          <a:prstGeom prst="roundRect">
            <a:avLst>
              <a:gd name="adj" fmla="val 13889"/>
            </a:avLst>
          </a:prstGeom>
          <a:solidFill>
            <a:srgbClr val="EEF3F4"/>
          </a:solidFill>
          <a:ln w="12700">
            <a:solidFill>
              <a:srgbClr val="FFFFFF"/>
            </a:solidFill>
            <a:prstDash val="solid"/>
          </a:ln>
        </p:spPr>
      </p:sp>
      <p:sp>
        <p:nvSpPr>
          <p:cNvPr id="8" name="Text 6"/>
          <p:cNvSpPr txBox="1"/>
          <p:nvPr/>
        </p:nvSpPr>
        <p:spPr>
          <a:xfrm>
            <a:off x="777240" y="2679192"/>
            <a:ext cx="914400" cy="457200"/>
          </a:xfrm>
          <a:prstGeom prst="rect">
            <a:avLst/>
          </a:prstGeom>
          <a:noFill/>
          <a:ln/>
        </p:spPr>
        <p:txBody>
          <a:bodyPr wrap="square" lIns="0" tIns="0" rIns="0" bIns="0" rtlCol="0" anchor="ctr"/>
          <a:lstStyle/>
          <a:p>
            <a:pPr indent="0" marL="0">
              <a:buNone/>
            </a:pPr>
            <a:r>
              <a:rPr lang="en-US" sz="2100" b="1" dirty="0">
                <a:solidFill>
                  <a:srgbClr val="5A7A80"/>
                </a:solidFill>
              </a:rPr>
              <a:t>20%</a:t>
            </a:r>
            <a:endParaRPr lang="en-US" sz="2100" dirty="0"/>
          </a:p>
        </p:txBody>
      </p:sp>
      <p:sp>
        <p:nvSpPr>
          <p:cNvPr id="9" name="Text 7"/>
          <p:cNvSpPr txBox="1"/>
          <p:nvPr/>
        </p:nvSpPr>
        <p:spPr>
          <a:xfrm>
            <a:off x="1783080" y="2660904"/>
            <a:ext cx="4937760" cy="502920"/>
          </a:xfrm>
          <a:prstGeom prst="rect">
            <a:avLst/>
          </a:prstGeom>
          <a:noFill/>
          <a:ln/>
        </p:spPr>
        <p:txBody>
          <a:bodyPr wrap="square" lIns="0" tIns="0" rIns="0" bIns="0" rtlCol="0" anchor="ctr"/>
          <a:lstStyle/>
          <a:p>
            <a:pPr indent="0" marL="0">
              <a:buNone/>
            </a:pPr>
            <a:r>
              <a:rPr lang="en-US" sz="1350" dirty="0">
                <a:solidFill>
                  <a:schemeClr val="tx1"/>
                </a:solidFill>
              </a:rPr>
              <a:t>holding the rail, where there is one</a:t>
            </a:r>
            <a:endParaRPr lang="en-US" sz="1350" dirty="0"/>
          </a:p>
        </p:txBody>
      </p:sp>
      <p:sp>
        <p:nvSpPr>
          <p:cNvPr id="10" name="card-50"/>
          <p:cNvSpPr/>
          <p:nvPr/>
        </p:nvSpPr>
        <p:spPr>
          <a:xfrm>
            <a:off x="548640" y="3355848"/>
            <a:ext cx="6400800" cy="658368"/>
          </a:xfrm>
          <a:prstGeom prst="roundRect">
            <a:avLst>
              <a:gd name="adj" fmla="val 13889"/>
            </a:avLst>
          </a:prstGeom>
          <a:solidFill>
            <a:srgbClr val="EEF3F4"/>
          </a:solidFill>
          <a:ln w="12700">
            <a:solidFill>
              <a:srgbClr val="FFFFFF"/>
            </a:solidFill>
            <a:prstDash val="solid"/>
          </a:ln>
        </p:spPr>
      </p:sp>
      <p:sp>
        <p:nvSpPr>
          <p:cNvPr id="11" name="Text 9"/>
          <p:cNvSpPr txBox="1"/>
          <p:nvPr/>
        </p:nvSpPr>
        <p:spPr>
          <a:xfrm>
            <a:off x="777240" y="3465576"/>
            <a:ext cx="914400" cy="457200"/>
          </a:xfrm>
          <a:prstGeom prst="rect">
            <a:avLst/>
          </a:prstGeom>
          <a:noFill/>
          <a:ln/>
        </p:spPr>
        <p:txBody>
          <a:bodyPr wrap="square" lIns="0" tIns="0" rIns="0" bIns="0" rtlCol="0" anchor="ctr"/>
          <a:lstStyle/>
          <a:p>
            <a:pPr indent="0" marL="0">
              <a:buNone/>
            </a:pPr>
            <a:r>
              <a:rPr lang="en-US" sz="2100" b="1" dirty="0">
                <a:solidFill>
                  <a:srgbClr val="F2A93B"/>
                </a:solidFill>
              </a:rPr>
              <a:t>30%</a:t>
            </a:r>
            <a:endParaRPr lang="en-US" sz="2100" dirty="0"/>
          </a:p>
        </p:txBody>
      </p:sp>
      <p:sp>
        <p:nvSpPr>
          <p:cNvPr id="12" name="Text 10"/>
          <p:cNvSpPr txBox="1"/>
          <p:nvPr/>
        </p:nvSpPr>
        <p:spPr>
          <a:xfrm>
            <a:off x="1783080" y="3447288"/>
            <a:ext cx="4937760" cy="502920"/>
          </a:xfrm>
          <a:prstGeom prst="rect">
            <a:avLst/>
          </a:prstGeom>
          <a:noFill/>
          <a:ln/>
        </p:spPr>
        <p:txBody>
          <a:bodyPr wrap="square" lIns="0" tIns="0" rIns="0" bIns="0" rtlCol="0" anchor="ctr"/>
          <a:lstStyle/>
          <a:p>
            <a:pPr indent="0" marL="0">
              <a:buNone/>
            </a:pPr>
            <a:r>
              <a:rPr lang="en-US" sz="1350" dirty="0">
                <a:solidFill>
                  <a:schemeClr val="tx1"/>
                </a:solidFill>
              </a:rPr>
              <a:t>getting across without bumping anything</a:t>
            </a:r>
            <a:endParaRPr lang="en-US" sz="1350" dirty="0"/>
          </a:p>
        </p:txBody>
      </p:sp>
      <p:sp>
        <p:nvSpPr>
          <p:cNvPr id="13" name="Text 11"/>
          <p:cNvSpPr txBox="1"/>
          <p:nvPr/>
        </p:nvSpPr>
        <p:spPr>
          <a:xfrm>
            <a:off x="548640" y="4251960"/>
            <a:ext cx="6400800" cy="1554480"/>
          </a:xfrm>
          <a:prstGeom prst="rect">
            <a:avLst/>
          </a:prstGeom>
          <a:noFill/>
          <a:ln/>
        </p:spPr>
        <p:txBody>
          <a:bodyPr wrap="square" lIns="0" tIns="0" rIns="0" bIns="0" rtlCol="0" anchor="t"/>
          <a:lstStyle/>
          <a:p>
            <a:pPr indent="0" marL="0">
              <a:lnSpc>
                <a:spcPct val="115000"/>
              </a:lnSpc>
              <a:buNone/>
            </a:pPr>
            <a:r>
              <a:rPr lang="en-US" sz="1350" dirty="0">
                <a:solidFill>
                  <a:schemeClr val="tx1"/>
                </a:solidFill>
              </a:rPr>
              <a:t>Minus 10 each time they walk into something they had not spotted, up to −20.</a:t>
            </a:r>
            <a:endParaRPr lang="en-US" sz="1350" dirty="0"/>
          </a:p>
          <a:p>
            <a:pPr indent="0" marL="0">
              <a:lnSpc>
                <a:spcPct val="115000"/>
              </a:lnSpc>
              <a:buNone/>
            </a:pPr>
            <a:endParaRPr lang="en-US" sz="1350" dirty="0"/>
          </a:p>
          <a:p>
            <a:pPr indent="0" marL="0">
              <a:lnSpc>
                <a:spcPct val="115000"/>
              </a:lnSpc>
              <a:buNone/>
            </a:pPr>
            <a:r>
              <a:rPr lang="en-US" sz="1350" dirty="0">
                <a:solidFill>
                  <a:schemeClr val="tx1"/>
                </a:solidFill>
              </a:rPr>
              <a:t>If a room cannot test something, that part is dropped and the rest share it out. But skipping the rings on purpose scores zero for that 30%, because otherwise ignoring the task would be the easy way to a high score. The street works a little differently: 60% dangers, 40% the walk.</a:t>
            </a:r>
            <a:endParaRPr lang="en-US" sz="1350" dirty="0"/>
          </a:p>
        </p:txBody>
      </p:sp>
      <p:graphicFrame>
        <p:nvGraphicFramePr>
          <p:cNvPr id="14" name="Chart 0" descr=""/>
          <p:cNvGraphicFramePr/>
          <p:nvPr/>
        </p:nvGraphicFramePr>
        <p:xfrm>
          <a:off x="7223760" y="1371600"/>
          <a:ext cx="4480560" cy="39319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4300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7A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indent="0" marL="0">
              <a:buNone/>
            </a:pPr>
            <a:r>
              <a:rPr lang="en-US" sz="3600" b="1" dirty="0">
                <a:solidFill>
                  <a:srgbClr val="0E3A42"/>
                </a:solidFill>
              </a:rPr>
              <a:t>The part that adapts</a:t>
            </a:r>
            <a:endParaRPr lang="en-US" sz="3600" dirty="0"/>
          </a:p>
        </p:txBody>
      </p:sp>
      <p:sp>
        <p:nvSpPr>
          <p:cNvPr id="3" name="Text 1"/>
          <p:cNvSpPr txBox="1"/>
          <p:nvPr/>
        </p:nvSpPr>
        <p:spPr>
          <a:xfrm>
            <a:off x="548640" y="1325880"/>
            <a:ext cx="5669280" cy="1463040"/>
          </a:xfrm>
          <a:prstGeom prst="rect">
            <a:avLst/>
          </a:prstGeom>
          <a:noFill/>
          <a:ln/>
        </p:spPr>
        <p:txBody>
          <a:bodyPr wrap="square" lIns="0" tIns="0" rIns="0" bIns="0" rtlCol="0" anchor="t"/>
          <a:lstStyle/>
          <a:p>
            <a:pPr indent="0" marL="0">
              <a:lnSpc>
                <a:spcPct val="115000"/>
              </a:lnSpc>
              <a:buNone/>
            </a:pPr>
            <a:r>
              <a:rPr lang="en-US" sz="1450" dirty="0">
                <a:solidFill>
                  <a:schemeClr val="tx1"/>
                </a:solidFill>
              </a:rPr>
              <a:t>From the second session on, the system picks the test they most need: their weakest average over the last three sessions, if it is below 90. The board names it, the voice mentions it, and an amber light stands in that room's doorway until they walk in.</a:t>
            </a:r>
            <a:endParaRPr lang="en-US" sz="1450" dirty="0"/>
          </a:p>
        </p:txBody>
      </p:sp>
      <p:sp>
        <p:nvSpPr>
          <p:cNvPr id="4" name="Text 2"/>
          <p:cNvSpPr txBox="1"/>
          <p:nvPr/>
        </p:nvSpPr>
        <p:spPr>
          <a:xfrm>
            <a:off x="548640" y="3017520"/>
            <a:ext cx="5669280" cy="310896"/>
          </a:xfrm>
          <a:prstGeom prst="rect">
            <a:avLst/>
          </a:prstGeom>
          <a:noFill/>
          <a:ln/>
        </p:spPr>
        <p:txBody>
          <a:bodyPr wrap="square" lIns="0" tIns="0" rIns="0" bIns="0" rtlCol="0" anchor="ctr"/>
          <a:lstStyle/>
          <a:p>
            <a:pPr indent="0" marL="0">
              <a:buNone/>
            </a:pPr>
            <a:r>
              <a:rPr lang="en-US" sz="1900" b="1" dirty="0">
                <a:solidFill>
                  <a:schemeClr val="tx2"/>
                </a:solidFill>
              </a:rPr>
              <a:t>Why a light and not a lock</a:t>
            </a:r>
            <a:endParaRPr lang="en-US" sz="1900" dirty="0"/>
          </a:p>
        </p:txBody>
      </p:sp>
      <p:sp>
        <p:nvSpPr>
          <p:cNvPr id="5" name="Text 3"/>
          <p:cNvSpPr txBox="1"/>
          <p:nvPr/>
        </p:nvSpPr>
        <p:spPr>
          <a:xfrm>
            <a:off x="548640" y="3474720"/>
            <a:ext cx="5669280" cy="1645920"/>
          </a:xfrm>
          <a:prstGeom prst="rect">
            <a:avLst/>
          </a:prstGeom>
          <a:noFill/>
          <a:ln/>
        </p:spPr>
        <p:txBody>
          <a:bodyPr wrap="square" lIns="0" tIns="0" rIns="0" bIns="0" rtlCol="0" anchor="t"/>
          <a:lstStyle/>
          <a:p>
            <a:pPr indent="0" marL="0">
              <a:lnSpc>
                <a:spcPct val="115000"/>
              </a:lnSpc>
              <a:buNone/>
            </a:pPr>
            <a:r>
              <a:rPr lang="en-US" sz="1450" dirty="0">
                <a:solidFill>
                  <a:schemeClr val="tx1"/>
                </a:solidFill>
              </a:rPr>
              <a:t>It points the way without nagging. They can ignore it and do the rooms in any order — the same idea used everywhere except the stairs.</a:t>
            </a:r>
            <a:endParaRPr lang="en-US" sz="1450" dirty="0"/>
          </a:p>
          <a:p>
            <a:pPr indent="0" marL="0">
              <a:lnSpc>
                <a:spcPct val="115000"/>
              </a:lnSpc>
              <a:buNone/>
            </a:pPr>
            <a:endParaRPr lang="en-US" sz="1450" dirty="0"/>
          </a:p>
          <a:p>
            <a:pPr indent="0" marL="0">
              <a:lnSpc>
                <a:spcPct val="115000"/>
              </a:lnSpc>
              <a:buNone/>
            </a:pPr>
            <a:r>
              <a:rPr lang="en-US" sz="1450" dirty="0">
                <a:solidFill>
                  <a:schemeClr val="tx1"/>
                </a:solidFill>
              </a:rPr>
              <a:t>The rule is deliberately simple. It is a sensible starting point, not something that has been properly tested yet.</a:t>
            </a:r>
            <a:endParaRPr lang="en-US" sz="1450" dirty="0"/>
          </a:p>
        </p:txBody>
      </p:sp>
      <p:sp>
        <p:nvSpPr>
          <p:cNvPr id="6" name="card-51"/>
          <p:cNvSpPr/>
          <p:nvPr/>
        </p:nvSpPr>
        <p:spPr>
          <a:xfrm>
            <a:off x="6583680" y="1371600"/>
            <a:ext cx="5029200" cy="4343400"/>
          </a:xfrm>
          <a:prstGeom prst="roundRect">
            <a:avLst>
              <a:gd name="adj" fmla="val 2105"/>
            </a:avLst>
          </a:prstGeom>
          <a:solidFill>
            <a:srgbClr val="0E3A42"/>
          </a:solidFill>
          <a:ln w="12700">
            <a:solidFill>
              <a:srgbClr val="FFFFFF"/>
            </a:solidFill>
            <a:prstDash val="solid"/>
          </a:ln>
        </p:spPr>
      </p:sp>
      <p:sp>
        <p:nvSpPr>
          <p:cNvPr id="7" name="Text 5"/>
          <p:cNvSpPr txBox="1"/>
          <p:nvPr/>
        </p:nvSpPr>
        <p:spPr>
          <a:xfrm>
            <a:off x="6903720" y="1627632"/>
            <a:ext cx="4389120" cy="365760"/>
          </a:xfrm>
          <a:prstGeom prst="rect">
            <a:avLst/>
          </a:prstGeom>
          <a:noFill/>
          <a:ln/>
        </p:spPr>
        <p:txBody>
          <a:bodyPr wrap="square" lIns="0" tIns="0" rIns="0" bIns="0" rtlCol="0" anchor="ctr"/>
          <a:lstStyle/>
          <a:p>
            <a:pPr indent="0" marL="0">
              <a:buNone/>
            </a:pPr>
            <a:r>
              <a:rPr lang="en-US" sz="1600" b="1" dirty="0">
                <a:solidFill>
                  <a:srgbClr val="FFFFFF"/>
                </a:solidFill>
              </a:rPr>
              <a:t>Performance board, on the wall</a:t>
            </a:r>
            <a:endParaRPr lang="en-US" sz="1600" dirty="0"/>
          </a:p>
        </p:txBody>
      </p:sp>
      <p:sp>
        <p:nvSpPr>
          <p:cNvPr id="8" name="Text 6"/>
          <p:cNvSpPr txBox="1"/>
          <p:nvPr/>
        </p:nvSpPr>
        <p:spPr>
          <a:xfrm>
            <a:off x="6903720" y="2121408"/>
            <a:ext cx="2103120" cy="274320"/>
          </a:xfrm>
          <a:prstGeom prst="rect">
            <a:avLst/>
          </a:prstGeom>
          <a:noFill/>
          <a:ln/>
        </p:spPr>
        <p:txBody>
          <a:bodyPr wrap="square" lIns="0" tIns="0" rIns="0" bIns="0" rtlCol="0" anchor="ctr"/>
          <a:lstStyle/>
          <a:p>
            <a:pPr indent="0" marL="0">
              <a:buNone/>
            </a:pPr>
            <a:r>
              <a:rPr lang="en-US" sz="1100" b="1" dirty="0">
                <a:solidFill>
                  <a:srgbClr val="8FB8BE"/>
                </a:solidFill>
              </a:rPr>
              <a:t>Test</a:t>
            </a:r>
            <a:endParaRPr lang="en-US" sz="1100" dirty="0"/>
          </a:p>
        </p:txBody>
      </p:sp>
      <p:sp>
        <p:nvSpPr>
          <p:cNvPr id="9" name="Text 7"/>
          <p:cNvSpPr txBox="1"/>
          <p:nvPr/>
        </p:nvSpPr>
        <p:spPr>
          <a:xfrm>
            <a:off x="9052560" y="2121408"/>
            <a:ext cx="640080" cy="274320"/>
          </a:xfrm>
          <a:prstGeom prst="rect">
            <a:avLst/>
          </a:prstGeom>
          <a:noFill/>
          <a:ln/>
        </p:spPr>
        <p:txBody>
          <a:bodyPr wrap="square" lIns="0" tIns="0" rIns="0" bIns="0" rtlCol="0" anchor="ctr"/>
          <a:lstStyle/>
          <a:p>
            <a:pPr algn="r" indent="0" marL="0">
              <a:buNone/>
            </a:pPr>
            <a:r>
              <a:rPr lang="en-US" sz="1100" b="1" dirty="0">
                <a:solidFill>
                  <a:srgbClr val="8FB8BE"/>
                </a:solidFill>
              </a:rPr>
              <a:t>Last</a:t>
            </a:r>
            <a:endParaRPr lang="en-US" sz="1100" dirty="0"/>
          </a:p>
        </p:txBody>
      </p:sp>
      <p:sp>
        <p:nvSpPr>
          <p:cNvPr id="10" name="Text 8"/>
          <p:cNvSpPr txBox="1"/>
          <p:nvPr/>
        </p:nvSpPr>
        <p:spPr>
          <a:xfrm>
            <a:off x="9966960" y="2121408"/>
            <a:ext cx="640080" cy="274320"/>
          </a:xfrm>
          <a:prstGeom prst="rect">
            <a:avLst/>
          </a:prstGeom>
          <a:noFill/>
          <a:ln/>
        </p:spPr>
        <p:txBody>
          <a:bodyPr wrap="square" lIns="0" tIns="0" rIns="0" bIns="0" rtlCol="0" anchor="ctr"/>
          <a:lstStyle/>
          <a:p>
            <a:pPr algn="r" indent="0" marL="0">
              <a:buNone/>
            </a:pPr>
            <a:r>
              <a:rPr lang="en-US" sz="1100" b="1" dirty="0">
                <a:solidFill>
                  <a:srgbClr val="8FB8BE"/>
                </a:solidFill>
              </a:rPr>
              <a:t>Today</a:t>
            </a:r>
            <a:endParaRPr lang="en-US" sz="1100" dirty="0"/>
          </a:p>
        </p:txBody>
      </p:sp>
      <p:sp>
        <p:nvSpPr>
          <p:cNvPr id="11" name="Text 9"/>
          <p:cNvSpPr txBox="1"/>
          <p:nvPr/>
        </p:nvSpPr>
        <p:spPr>
          <a:xfrm>
            <a:off x="6903720" y="2450592"/>
            <a:ext cx="2103120" cy="310896"/>
          </a:xfrm>
          <a:prstGeom prst="rect">
            <a:avLst/>
          </a:prstGeom>
          <a:noFill/>
          <a:ln/>
        </p:spPr>
        <p:txBody>
          <a:bodyPr wrap="square" lIns="0" tIns="0" rIns="0" bIns="0" rtlCol="0" anchor="ctr"/>
          <a:lstStyle/>
          <a:p>
            <a:pPr indent="0" marL="0">
              <a:buNone/>
            </a:pPr>
            <a:r>
              <a:rPr lang="en-US" sz="1300" dirty="0">
                <a:solidFill>
                  <a:srgbClr val="FFFFFF"/>
                </a:solidFill>
              </a:rPr>
              <a:t>Hallway</a:t>
            </a:r>
            <a:endParaRPr lang="en-US" sz="1300" dirty="0"/>
          </a:p>
        </p:txBody>
      </p:sp>
      <p:sp>
        <p:nvSpPr>
          <p:cNvPr id="12" name="Text 10"/>
          <p:cNvSpPr txBox="1"/>
          <p:nvPr/>
        </p:nvSpPr>
        <p:spPr>
          <a:xfrm>
            <a:off x="9052560" y="2450592"/>
            <a:ext cx="640080" cy="310896"/>
          </a:xfrm>
          <a:prstGeom prst="rect">
            <a:avLst/>
          </a:prstGeom>
          <a:noFill/>
          <a:ln/>
        </p:spPr>
        <p:txBody>
          <a:bodyPr wrap="square" lIns="0" tIns="0" rIns="0" bIns="0" rtlCol="0" anchor="ctr"/>
          <a:lstStyle/>
          <a:p>
            <a:pPr algn="r" indent="0" marL="0">
              <a:buNone/>
            </a:pPr>
            <a:r>
              <a:rPr lang="en-US" sz="1300" dirty="0">
                <a:solidFill>
                  <a:srgbClr val="8FB8BE"/>
                </a:solidFill>
              </a:rPr>
              <a:t>82</a:t>
            </a:r>
            <a:endParaRPr lang="en-US" sz="1300" dirty="0"/>
          </a:p>
        </p:txBody>
      </p:sp>
      <p:sp>
        <p:nvSpPr>
          <p:cNvPr id="13" name="Text 11"/>
          <p:cNvSpPr txBox="1"/>
          <p:nvPr/>
        </p:nvSpPr>
        <p:spPr>
          <a:xfrm>
            <a:off x="9966960" y="2450592"/>
            <a:ext cx="640080" cy="310896"/>
          </a:xfrm>
          <a:prstGeom prst="rect">
            <a:avLst/>
          </a:prstGeom>
          <a:noFill/>
          <a:ln/>
        </p:spPr>
        <p:txBody>
          <a:bodyPr wrap="square" lIns="0" tIns="0" rIns="0" bIns="0" rtlCol="0" anchor="ctr"/>
          <a:lstStyle/>
          <a:p>
            <a:pPr algn="r" indent="0" marL="0">
              <a:buNone/>
            </a:pPr>
            <a:r>
              <a:rPr lang="en-US" sz="1300" b="1" dirty="0">
                <a:solidFill>
                  <a:srgbClr val="2E9E5B"/>
                </a:solidFill>
              </a:rPr>
              <a:t>91</a:t>
            </a:r>
            <a:endParaRPr lang="en-US" sz="1300" dirty="0"/>
          </a:p>
        </p:txBody>
      </p:sp>
      <p:sp>
        <p:nvSpPr>
          <p:cNvPr id="14" name="Text 12"/>
          <p:cNvSpPr txBox="1"/>
          <p:nvPr/>
        </p:nvSpPr>
        <p:spPr>
          <a:xfrm>
            <a:off x="6903720" y="2880360"/>
            <a:ext cx="2103120" cy="310896"/>
          </a:xfrm>
          <a:prstGeom prst="rect">
            <a:avLst/>
          </a:prstGeom>
          <a:noFill/>
          <a:ln/>
        </p:spPr>
        <p:txBody>
          <a:bodyPr wrap="square" lIns="0" tIns="0" rIns="0" bIns="0" rtlCol="0" anchor="ctr"/>
          <a:lstStyle/>
          <a:p>
            <a:pPr indent="0" marL="0">
              <a:buNone/>
            </a:pPr>
            <a:r>
              <a:rPr lang="en-US" sz="1300" dirty="0">
                <a:solidFill>
                  <a:srgbClr val="FFFFFF"/>
                </a:solidFill>
              </a:rPr>
              <a:t>Living room</a:t>
            </a:r>
            <a:endParaRPr lang="en-US" sz="1300" dirty="0"/>
          </a:p>
        </p:txBody>
      </p:sp>
      <p:sp>
        <p:nvSpPr>
          <p:cNvPr id="15" name="Text 13"/>
          <p:cNvSpPr txBox="1"/>
          <p:nvPr/>
        </p:nvSpPr>
        <p:spPr>
          <a:xfrm>
            <a:off x="9052560" y="2880360"/>
            <a:ext cx="640080" cy="310896"/>
          </a:xfrm>
          <a:prstGeom prst="rect">
            <a:avLst/>
          </a:prstGeom>
          <a:noFill/>
          <a:ln/>
        </p:spPr>
        <p:txBody>
          <a:bodyPr wrap="square" lIns="0" tIns="0" rIns="0" bIns="0" rtlCol="0" anchor="ctr"/>
          <a:lstStyle/>
          <a:p>
            <a:pPr algn="r" indent="0" marL="0">
              <a:buNone/>
            </a:pPr>
            <a:r>
              <a:rPr lang="en-US" sz="1300" dirty="0">
                <a:solidFill>
                  <a:srgbClr val="8FB8BE"/>
                </a:solidFill>
              </a:rPr>
              <a:t>74</a:t>
            </a:r>
            <a:endParaRPr lang="en-US" sz="1300" dirty="0"/>
          </a:p>
        </p:txBody>
      </p:sp>
      <p:sp>
        <p:nvSpPr>
          <p:cNvPr id="16" name="Text 14"/>
          <p:cNvSpPr txBox="1"/>
          <p:nvPr/>
        </p:nvSpPr>
        <p:spPr>
          <a:xfrm>
            <a:off x="9966960" y="2880360"/>
            <a:ext cx="640080" cy="310896"/>
          </a:xfrm>
          <a:prstGeom prst="rect">
            <a:avLst/>
          </a:prstGeom>
          <a:noFill/>
          <a:ln/>
        </p:spPr>
        <p:txBody>
          <a:bodyPr wrap="square" lIns="0" tIns="0" rIns="0" bIns="0" rtlCol="0" anchor="ctr"/>
          <a:lstStyle/>
          <a:p>
            <a:pPr algn="r" indent="0" marL="0">
              <a:buNone/>
            </a:pPr>
            <a:r>
              <a:rPr lang="en-US" sz="1300" b="1" dirty="0">
                <a:solidFill>
                  <a:srgbClr val="2E9E5B"/>
                </a:solidFill>
              </a:rPr>
              <a:t>79</a:t>
            </a:r>
            <a:endParaRPr lang="en-US" sz="1300" dirty="0"/>
          </a:p>
        </p:txBody>
      </p:sp>
      <p:sp>
        <p:nvSpPr>
          <p:cNvPr id="17" name="Text 15"/>
          <p:cNvSpPr txBox="1"/>
          <p:nvPr/>
        </p:nvSpPr>
        <p:spPr>
          <a:xfrm>
            <a:off x="6903720" y="3310128"/>
            <a:ext cx="2103120" cy="310896"/>
          </a:xfrm>
          <a:prstGeom prst="rect">
            <a:avLst/>
          </a:prstGeom>
          <a:noFill/>
          <a:ln/>
        </p:spPr>
        <p:txBody>
          <a:bodyPr wrap="square" lIns="0" tIns="0" rIns="0" bIns="0" rtlCol="0" anchor="ctr"/>
          <a:lstStyle/>
          <a:p>
            <a:pPr indent="0" marL="0">
              <a:buNone/>
            </a:pPr>
            <a:r>
              <a:rPr lang="en-US" sz="1300" dirty="0">
                <a:solidFill>
                  <a:srgbClr val="FFFFFF"/>
                </a:solidFill>
              </a:rPr>
              <a:t>Kitchen</a:t>
            </a:r>
            <a:endParaRPr lang="en-US" sz="1300" dirty="0"/>
          </a:p>
        </p:txBody>
      </p:sp>
      <p:sp>
        <p:nvSpPr>
          <p:cNvPr id="18" name="Text 16"/>
          <p:cNvSpPr txBox="1"/>
          <p:nvPr/>
        </p:nvSpPr>
        <p:spPr>
          <a:xfrm>
            <a:off x="9052560" y="3310128"/>
            <a:ext cx="640080" cy="310896"/>
          </a:xfrm>
          <a:prstGeom prst="rect">
            <a:avLst/>
          </a:prstGeom>
          <a:noFill/>
          <a:ln/>
        </p:spPr>
        <p:txBody>
          <a:bodyPr wrap="square" lIns="0" tIns="0" rIns="0" bIns="0" rtlCol="0" anchor="ctr"/>
          <a:lstStyle/>
          <a:p>
            <a:pPr algn="r" indent="0" marL="0">
              <a:buNone/>
            </a:pPr>
            <a:r>
              <a:rPr lang="en-US" sz="1300" dirty="0">
                <a:solidFill>
                  <a:srgbClr val="8FB8BE"/>
                </a:solidFill>
              </a:rPr>
              <a:t>88</a:t>
            </a:r>
            <a:endParaRPr lang="en-US" sz="1300" dirty="0"/>
          </a:p>
        </p:txBody>
      </p:sp>
      <p:sp>
        <p:nvSpPr>
          <p:cNvPr id="19" name="Text 17"/>
          <p:cNvSpPr txBox="1"/>
          <p:nvPr/>
        </p:nvSpPr>
        <p:spPr>
          <a:xfrm>
            <a:off x="9966960" y="3310128"/>
            <a:ext cx="640080" cy="310896"/>
          </a:xfrm>
          <a:prstGeom prst="rect">
            <a:avLst/>
          </a:prstGeom>
          <a:noFill/>
          <a:ln/>
        </p:spPr>
        <p:txBody>
          <a:bodyPr wrap="square" lIns="0" tIns="0" rIns="0" bIns="0" rtlCol="0" anchor="ctr"/>
          <a:lstStyle/>
          <a:p>
            <a:pPr algn="r" indent="0" marL="0">
              <a:buNone/>
            </a:pPr>
            <a:r>
              <a:rPr lang="en-US" sz="1300" b="1" dirty="0">
                <a:solidFill>
                  <a:srgbClr val="C4493D"/>
                </a:solidFill>
              </a:rPr>
              <a:t>85</a:t>
            </a:r>
            <a:endParaRPr lang="en-US" sz="1300" dirty="0"/>
          </a:p>
        </p:txBody>
      </p:sp>
      <p:sp>
        <p:nvSpPr>
          <p:cNvPr id="20" name="Text 18"/>
          <p:cNvSpPr txBox="1"/>
          <p:nvPr/>
        </p:nvSpPr>
        <p:spPr>
          <a:xfrm>
            <a:off x="6903720" y="3739896"/>
            <a:ext cx="2103120" cy="310896"/>
          </a:xfrm>
          <a:prstGeom prst="rect">
            <a:avLst/>
          </a:prstGeom>
          <a:noFill/>
          <a:ln/>
        </p:spPr>
        <p:txBody>
          <a:bodyPr wrap="square" lIns="0" tIns="0" rIns="0" bIns="0" rtlCol="0" anchor="ctr"/>
          <a:lstStyle/>
          <a:p>
            <a:pPr indent="0" marL="0">
              <a:buNone/>
            </a:pPr>
            <a:r>
              <a:rPr lang="en-US" sz="1300" dirty="0">
                <a:solidFill>
                  <a:srgbClr val="FFFFFF"/>
                </a:solidFill>
              </a:rPr>
              <a:t>Bathroom</a:t>
            </a:r>
            <a:endParaRPr lang="en-US" sz="1300" dirty="0"/>
          </a:p>
        </p:txBody>
      </p:sp>
      <p:sp>
        <p:nvSpPr>
          <p:cNvPr id="21" name="Text 19"/>
          <p:cNvSpPr txBox="1"/>
          <p:nvPr/>
        </p:nvSpPr>
        <p:spPr>
          <a:xfrm>
            <a:off x="9052560" y="3739896"/>
            <a:ext cx="640080" cy="310896"/>
          </a:xfrm>
          <a:prstGeom prst="rect">
            <a:avLst/>
          </a:prstGeom>
          <a:noFill/>
          <a:ln/>
        </p:spPr>
        <p:txBody>
          <a:bodyPr wrap="square" lIns="0" tIns="0" rIns="0" bIns="0" rtlCol="0" anchor="ctr"/>
          <a:lstStyle/>
          <a:p>
            <a:pPr algn="r" indent="0" marL="0">
              <a:buNone/>
            </a:pPr>
            <a:r>
              <a:rPr lang="en-US" sz="1300" dirty="0">
                <a:solidFill>
                  <a:srgbClr val="8FB8BE"/>
                </a:solidFill>
              </a:rPr>
              <a:t>69</a:t>
            </a:r>
            <a:endParaRPr lang="en-US" sz="1300" dirty="0"/>
          </a:p>
        </p:txBody>
      </p:sp>
      <p:sp>
        <p:nvSpPr>
          <p:cNvPr id="22" name="Text 20"/>
          <p:cNvSpPr txBox="1"/>
          <p:nvPr/>
        </p:nvSpPr>
        <p:spPr>
          <a:xfrm>
            <a:off x="9966960" y="3739896"/>
            <a:ext cx="640080" cy="310896"/>
          </a:xfrm>
          <a:prstGeom prst="rect">
            <a:avLst/>
          </a:prstGeom>
          <a:noFill/>
          <a:ln/>
        </p:spPr>
        <p:txBody>
          <a:bodyPr wrap="square" lIns="0" tIns="0" rIns="0" bIns="0" rtlCol="0" anchor="ctr"/>
          <a:lstStyle/>
          <a:p>
            <a:pPr algn="r" indent="0" marL="0">
              <a:buNone/>
            </a:pPr>
            <a:r>
              <a:rPr lang="en-US" sz="1300" b="1" dirty="0">
                <a:solidFill>
                  <a:srgbClr val="F2A93B"/>
                </a:solidFill>
              </a:rPr>
              <a:t>68</a:t>
            </a:r>
            <a:endParaRPr lang="en-US" sz="1300" dirty="0"/>
          </a:p>
        </p:txBody>
      </p:sp>
      <p:sp>
        <p:nvSpPr>
          <p:cNvPr id="23" name="Text 21"/>
          <p:cNvSpPr txBox="1"/>
          <p:nvPr/>
        </p:nvSpPr>
        <p:spPr>
          <a:xfrm>
            <a:off x="6903720" y="4169664"/>
            <a:ext cx="2103120" cy="310896"/>
          </a:xfrm>
          <a:prstGeom prst="rect">
            <a:avLst/>
          </a:prstGeom>
          <a:noFill/>
          <a:ln/>
        </p:spPr>
        <p:txBody>
          <a:bodyPr wrap="square" lIns="0" tIns="0" rIns="0" bIns="0" rtlCol="0" anchor="ctr"/>
          <a:lstStyle/>
          <a:p>
            <a:pPr indent="0" marL="0">
              <a:buNone/>
            </a:pPr>
            <a:r>
              <a:rPr lang="en-US" sz="1300" dirty="0">
                <a:solidFill>
                  <a:srgbClr val="FFFFFF"/>
                </a:solidFill>
              </a:rPr>
              <a:t>Staircase</a:t>
            </a:r>
            <a:endParaRPr lang="en-US" sz="1300" dirty="0"/>
          </a:p>
        </p:txBody>
      </p:sp>
      <p:sp>
        <p:nvSpPr>
          <p:cNvPr id="24" name="Text 22"/>
          <p:cNvSpPr txBox="1"/>
          <p:nvPr/>
        </p:nvSpPr>
        <p:spPr>
          <a:xfrm>
            <a:off x="9052560" y="4169664"/>
            <a:ext cx="640080" cy="310896"/>
          </a:xfrm>
          <a:prstGeom prst="rect">
            <a:avLst/>
          </a:prstGeom>
          <a:noFill/>
          <a:ln/>
        </p:spPr>
        <p:txBody>
          <a:bodyPr wrap="square" lIns="0" tIns="0" rIns="0" bIns="0" rtlCol="0" anchor="ctr"/>
          <a:lstStyle/>
          <a:p>
            <a:pPr algn="r" indent="0" marL="0">
              <a:buNone/>
            </a:pPr>
            <a:r>
              <a:rPr lang="en-US" sz="1300" dirty="0">
                <a:solidFill>
                  <a:srgbClr val="8FB8BE"/>
                </a:solidFill>
              </a:rPr>
              <a:t>90</a:t>
            </a:r>
            <a:endParaRPr lang="en-US" sz="1300" dirty="0"/>
          </a:p>
        </p:txBody>
      </p:sp>
      <p:sp>
        <p:nvSpPr>
          <p:cNvPr id="25" name="Text 23"/>
          <p:cNvSpPr txBox="1"/>
          <p:nvPr/>
        </p:nvSpPr>
        <p:spPr>
          <a:xfrm>
            <a:off x="9966960" y="4169664"/>
            <a:ext cx="640080" cy="310896"/>
          </a:xfrm>
          <a:prstGeom prst="rect">
            <a:avLst/>
          </a:prstGeom>
          <a:noFill/>
          <a:ln/>
        </p:spPr>
        <p:txBody>
          <a:bodyPr wrap="square" lIns="0" tIns="0" rIns="0" bIns="0" rtlCol="0" anchor="ctr"/>
          <a:lstStyle/>
          <a:p>
            <a:pPr algn="r" indent="0" marL="0">
              <a:buNone/>
            </a:pPr>
            <a:r>
              <a:rPr lang="en-US" sz="1300" b="1" dirty="0">
                <a:solidFill>
                  <a:srgbClr val="2E9E5B"/>
                </a:solidFill>
              </a:rPr>
              <a:t>94</a:t>
            </a:r>
            <a:endParaRPr lang="en-US" sz="1300" dirty="0"/>
          </a:p>
        </p:txBody>
      </p:sp>
      <p:sp>
        <p:nvSpPr>
          <p:cNvPr id="26" name="Text 24"/>
          <p:cNvSpPr txBox="1"/>
          <p:nvPr/>
        </p:nvSpPr>
        <p:spPr>
          <a:xfrm>
            <a:off x="6903720" y="4599432"/>
            <a:ext cx="2103120" cy="310896"/>
          </a:xfrm>
          <a:prstGeom prst="rect">
            <a:avLst/>
          </a:prstGeom>
          <a:noFill/>
          <a:ln/>
        </p:spPr>
        <p:txBody>
          <a:bodyPr wrap="square" lIns="0" tIns="0" rIns="0" bIns="0" rtlCol="0" anchor="ctr"/>
          <a:lstStyle/>
          <a:p>
            <a:pPr indent="0" marL="0">
              <a:buNone/>
            </a:pPr>
            <a:r>
              <a:rPr lang="en-US" sz="1300" dirty="0">
                <a:solidFill>
                  <a:srgbClr val="FFFFFF"/>
                </a:solidFill>
              </a:rPr>
              <a:t>Bedroom</a:t>
            </a:r>
            <a:endParaRPr lang="en-US" sz="1300" dirty="0"/>
          </a:p>
        </p:txBody>
      </p:sp>
      <p:sp>
        <p:nvSpPr>
          <p:cNvPr id="27" name="Text 25"/>
          <p:cNvSpPr txBox="1"/>
          <p:nvPr/>
        </p:nvSpPr>
        <p:spPr>
          <a:xfrm>
            <a:off x="9052560" y="4599432"/>
            <a:ext cx="640080" cy="310896"/>
          </a:xfrm>
          <a:prstGeom prst="rect">
            <a:avLst/>
          </a:prstGeom>
          <a:noFill/>
          <a:ln/>
        </p:spPr>
        <p:txBody>
          <a:bodyPr wrap="square" lIns="0" tIns="0" rIns="0" bIns="0" rtlCol="0" anchor="ctr"/>
          <a:lstStyle/>
          <a:p>
            <a:pPr algn="r" indent="0" marL="0">
              <a:buNone/>
            </a:pPr>
            <a:r>
              <a:rPr lang="en-US" sz="1300" dirty="0">
                <a:solidFill>
                  <a:srgbClr val="8FB8BE"/>
                </a:solidFill>
              </a:rPr>
              <a:t>77</a:t>
            </a:r>
            <a:endParaRPr lang="en-US" sz="1300" dirty="0"/>
          </a:p>
        </p:txBody>
      </p:sp>
      <p:sp>
        <p:nvSpPr>
          <p:cNvPr id="28" name="Text 26"/>
          <p:cNvSpPr txBox="1"/>
          <p:nvPr/>
        </p:nvSpPr>
        <p:spPr>
          <a:xfrm>
            <a:off x="9966960" y="4599432"/>
            <a:ext cx="640080" cy="310896"/>
          </a:xfrm>
          <a:prstGeom prst="rect">
            <a:avLst/>
          </a:prstGeom>
          <a:noFill/>
          <a:ln/>
        </p:spPr>
        <p:txBody>
          <a:bodyPr wrap="square" lIns="0" tIns="0" rIns="0" bIns="0" rtlCol="0" anchor="ctr"/>
          <a:lstStyle/>
          <a:p>
            <a:pPr algn="r" indent="0" marL="0">
              <a:buNone/>
            </a:pPr>
            <a:r>
              <a:rPr lang="en-US" sz="1300" b="1" dirty="0">
                <a:solidFill>
                  <a:srgbClr val="2E9E5B"/>
                </a:solidFill>
              </a:rPr>
              <a:t>83</a:t>
            </a:r>
            <a:endParaRPr lang="en-US" sz="1300" dirty="0"/>
          </a:p>
        </p:txBody>
      </p:sp>
      <p:sp>
        <p:nvSpPr>
          <p:cNvPr id="29" name="Text 27"/>
          <p:cNvSpPr txBox="1"/>
          <p:nvPr/>
        </p:nvSpPr>
        <p:spPr>
          <a:xfrm>
            <a:off x="6903720" y="5029200"/>
            <a:ext cx="2103120" cy="310896"/>
          </a:xfrm>
          <a:prstGeom prst="rect">
            <a:avLst/>
          </a:prstGeom>
          <a:noFill/>
          <a:ln/>
        </p:spPr>
        <p:txBody>
          <a:bodyPr wrap="square" lIns="0" tIns="0" rIns="0" bIns="0" rtlCol="0" anchor="ctr"/>
          <a:lstStyle/>
          <a:p>
            <a:pPr indent="0" marL="0">
              <a:buNone/>
            </a:pPr>
            <a:r>
              <a:rPr lang="en-US" sz="1300" dirty="0">
                <a:solidFill>
                  <a:srgbClr val="FFFFFF"/>
                </a:solidFill>
              </a:rPr>
              <a:t>Balance</a:t>
            </a:r>
            <a:endParaRPr lang="en-US" sz="1300" dirty="0"/>
          </a:p>
        </p:txBody>
      </p:sp>
      <p:sp>
        <p:nvSpPr>
          <p:cNvPr id="30" name="Text 28"/>
          <p:cNvSpPr txBox="1"/>
          <p:nvPr/>
        </p:nvSpPr>
        <p:spPr>
          <a:xfrm>
            <a:off x="9052560" y="5029200"/>
            <a:ext cx="640080" cy="310896"/>
          </a:xfrm>
          <a:prstGeom prst="rect">
            <a:avLst/>
          </a:prstGeom>
          <a:noFill/>
          <a:ln/>
        </p:spPr>
        <p:txBody>
          <a:bodyPr wrap="square" lIns="0" tIns="0" rIns="0" bIns="0" rtlCol="0" anchor="ctr"/>
          <a:lstStyle/>
          <a:p>
            <a:pPr algn="r" indent="0" marL="0">
              <a:buNone/>
            </a:pPr>
            <a:r>
              <a:rPr lang="en-US" sz="1300" dirty="0">
                <a:solidFill>
                  <a:srgbClr val="8FB8BE"/>
                </a:solidFill>
              </a:rPr>
              <a:t>81</a:t>
            </a:r>
            <a:endParaRPr lang="en-US" sz="1300" dirty="0"/>
          </a:p>
        </p:txBody>
      </p:sp>
      <p:sp>
        <p:nvSpPr>
          <p:cNvPr id="31" name="Text 29"/>
          <p:cNvSpPr txBox="1"/>
          <p:nvPr/>
        </p:nvSpPr>
        <p:spPr>
          <a:xfrm>
            <a:off x="9966960" y="5029200"/>
            <a:ext cx="640080" cy="310896"/>
          </a:xfrm>
          <a:prstGeom prst="rect">
            <a:avLst/>
          </a:prstGeom>
          <a:noFill/>
          <a:ln/>
        </p:spPr>
        <p:txBody>
          <a:bodyPr wrap="square" lIns="0" tIns="0" rIns="0" bIns="0" rtlCol="0" anchor="ctr"/>
          <a:lstStyle/>
          <a:p>
            <a:pPr algn="r" indent="0" marL="0">
              <a:buNone/>
            </a:pPr>
            <a:r>
              <a:rPr lang="en-US" sz="1300" b="1" dirty="0">
                <a:solidFill>
                  <a:srgbClr val="C4493D"/>
                </a:solidFill>
              </a:rPr>
              <a:t>80</a:t>
            </a:r>
            <a:endParaRPr lang="en-US" sz="1300" dirty="0"/>
          </a:p>
        </p:txBody>
      </p:sp>
      <p:sp>
        <p:nvSpPr>
          <p:cNvPr id="32" name="Text 30"/>
          <p:cNvSpPr txBox="1"/>
          <p:nvPr/>
        </p:nvSpPr>
        <p:spPr>
          <a:xfrm>
            <a:off x="6903720" y="5468112"/>
            <a:ext cx="4389120" cy="274320"/>
          </a:xfrm>
          <a:prstGeom prst="rect">
            <a:avLst/>
          </a:prstGeom>
          <a:noFill/>
          <a:ln/>
        </p:spPr>
        <p:txBody>
          <a:bodyPr wrap="square" lIns="0" tIns="0" rIns="0" bIns="0" rtlCol="0" anchor="ctr"/>
          <a:lstStyle/>
          <a:p>
            <a:pPr indent="0" marL="0">
              <a:buNone/>
            </a:pPr>
            <a:r>
              <a:rPr lang="en-US" sz="1250" b="1" i="1" dirty="0">
                <a:solidFill>
                  <a:srgbClr val="F2A93B"/>
                </a:solidFill>
              </a:rPr>
              <a:t>Today's focus: the bathroom</a:t>
            </a:r>
            <a:endParaRPr lang="en-US" sz="1250" dirty="0"/>
          </a:p>
        </p:txBody>
      </p:sp>
      <p:sp>
        <p:nvSpPr>
          <p:cNvPr id="25" name="Slide Number Placeholder 0"/>
          <p:cNvSpPr>
            <a:spLocks noGrp="1"/>
          </p:cNvSpPr>
          <p:nvPr>
            <p:ph type="sldNum" sz="quarter" idx="4294967295"/>
          </p:nvPr>
        </p:nvSpPr>
        <p:spPr>
          <a:xfrm>
            <a:off x="114300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7A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822960" y="2148840"/>
            <a:ext cx="9144000" cy="365760"/>
          </a:xfrm>
          <a:prstGeom prst="rect">
            <a:avLst/>
          </a:prstGeom>
          <a:noFill/>
          <a:ln/>
        </p:spPr>
        <p:txBody>
          <a:bodyPr wrap="square" lIns="0" tIns="0" rIns="0" bIns="0" rtlCol="0" anchor="ctr"/>
          <a:lstStyle/>
          <a:p>
            <a:pPr indent="0" marL="0">
              <a:buNone/>
            </a:pPr>
            <a:r>
              <a:rPr lang="en-US" sz="1500" b="1" spc="200" kern="0" dirty="0">
                <a:solidFill>
                  <a:srgbClr val="F2A93B"/>
                </a:solidFill>
              </a:rPr>
              <a:t>ENGINEERING</a:t>
            </a:r>
            <a:endParaRPr lang="en-US" sz="1500" dirty="0"/>
          </a:p>
        </p:txBody>
      </p:sp>
      <p:sp>
        <p:nvSpPr>
          <p:cNvPr id="3" name="Text 1"/>
          <p:cNvSpPr txBox="1"/>
          <p:nvPr/>
        </p:nvSpPr>
        <p:spPr>
          <a:xfrm>
            <a:off x="822960" y="2560320"/>
            <a:ext cx="10058400" cy="1005840"/>
          </a:xfrm>
          <a:prstGeom prst="rect">
            <a:avLst/>
          </a:prstGeom>
          <a:noFill/>
          <a:ln/>
        </p:spPr>
        <p:txBody>
          <a:bodyPr wrap="square" lIns="0" tIns="0" rIns="0" bIns="0" rtlCol="0" anchor="ctr"/>
          <a:lstStyle/>
          <a:p>
            <a:pPr indent="0" marL="0">
              <a:buNone/>
            </a:pPr>
            <a:r>
              <a:rPr lang="en-US" sz="4200" b="1" dirty="0">
                <a:solidFill>
                  <a:srgbClr val="FFFFFF"/>
                </a:solidFill>
              </a:rPr>
              <a:t>How it is built, how it looks real,</a:t>
            </a:r>
            <a:endParaRPr lang="en-US" sz="4200" dirty="0"/>
          </a:p>
          <a:p>
            <a:pPr indent="0" marL="0">
              <a:buNone/>
            </a:pPr>
            <a:r>
              <a:rPr lang="en-US" sz="4200" b="1" dirty="0">
                <a:solidFill>
                  <a:srgbClr val="FFFFFF"/>
                </a:solidFill>
              </a:rPr>
              <a:t>and how it runs on anything</a:t>
            </a:r>
            <a:endParaRPr lang="en-US" sz="4200" dirty="0"/>
          </a:p>
        </p:txBody>
      </p:sp>
      <p:sp>
        <p:nvSpPr>
          <p:cNvPr id="4" name="Text 2"/>
          <p:cNvSpPr txBox="1"/>
          <p:nvPr/>
        </p:nvSpPr>
        <p:spPr>
          <a:xfrm>
            <a:off x="822960" y="3657600"/>
            <a:ext cx="8778240" cy="914400"/>
          </a:xfrm>
          <a:prstGeom prst="rect">
            <a:avLst/>
          </a:prstGeom>
          <a:noFill/>
          <a:ln/>
        </p:spPr>
        <p:txBody>
          <a:bodyPr wrap="square" lIns="0" tIns="0" rIns="0" bIns="0" rtlCol="0" anchor="ctr"/>
          <a:lstStyle/>
          <a:p>
            <a:pPr indent="0" marL="0">
              <a:lnSpc>
                <a:spcPct val="120000"/>
              </a:lnSpc>
              <a:buNone/>
            </a:pPr>
            <a:r>
              <a:rPr lang="en-US" sz="1600" dirty="0">
                <a:solidFill>
                  <a:srgbClr val="8FB8BE"/>
                </a:solidFill>
              </a:rPr>
              <a:t>Godot 4.7 and OpenXR. 50 scripts, about 13,700 lines of code, 13 scenes, 566 objects in the house and street — and nothing downloaded from anywhere.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indent="0" marL="0">
              <a:buNone/>
            </a:pPr>
            <a:r>
              <a:rPr lang="en-US" sz="3600" b="1" dirty="0">
                <a:solidFill>
                  <a:srgbClr val="0E3A42"/>
                </a:solidFill>
              </a:rPr>
              <a:t>Choices made for the people using it</a:t>
            </a:r>
            <a:endParaRPr lang="en-US" sz="3600" dirty="0"/>
          </a:p>
        </p:txBody>
      </p:sp>
      <p:sp>
        <p:nvSpPr>
          <p:cNvPr id="3" name="chip-52"/>
          <p:cNvSpPr/>
          <p:nvPr/>
        </p:nvSpPr>
        <p:spPr>
          <a:xfrm>
            <a:off x="548640" y="1399032"/>
            <a:ext cx="420624" cy="420624"/>
          </a:xfrm>
          <a:prstGeom prst="ellipse">
            <a:avLst/>
          </a:prstGeom>
          <a:solidFill>
            <a:srgbClr val="0E7C86"/>
          </a:solidFill>
          <a:ln w="12700">
            <a:solidFill>
              <a:srgbClr val="333333"/>
            </a:solidFill>
            <a:prstDash val="solid"/>
          </a:ln>
        </p:spPr>
      </p:sp>
      <p:sp>
        <p:nvSpPr>
          <p:cNvPr id="4" name="Text 2"/>
          <p:cNvSpPr txBox="1"/>
          <p:nvPr/>
        </p:nvSpPr>
        <p:spPr>
          <a:xfrm>
            <a:off x="548640" y="13990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A</a:t>
            </a:r>
            <a:endParaRPr lang="en-US" sz="1500" dirty="0"/>
          </a:p>
        </p:txBody>
      </p:sp>
      <p:sp>
        <p:nvSpPr>
          <p:cNvPr id="5" name="Text 3"/>
          <p:cNvSpPr txBox="1"/>
          <p:nvPr/>
        </p:nvSpPr>
        <p:spPr>
          <a:xfrm>
            <a:off x="1143000" y="1325880"/>
            <a:ext cx="10424160" cy="365760"/>
          </a:xfrm>
          <a:prstGeom prst="rect">
            <a:avLst/>
          </a:prstGeom>
          <a:noFill/>
          <a:ln/>
        </p:spPr>
        <p:txBody>
          <a:bodyPr wrap="square" lIns="0" tIns="0" rIns="0" bIns="0" rtlCol="0" anchor="ctr"/>
          <a:lstStyle/>
          <a:p>
            <a:pPr indent="0" marL="0">
              <a:buNone/>
            </a:pPr>
            <a:r>
              <a:rPr lang="en-US" sz="1700" b="1" dirty="0">
                <a:solidFill>
                  <a:srgbClr val="0E3A42"/>
                </a:solidFill>
              </a:rPr>
              <a:t>The view never moves on its own</a:t>
            </a:r>
            <a:endParaRPr lang="en-US" sz="1700" dirty="0"/>
          </a:p>
        </p:txBody>
      </p:sp>
      <p:sp>
        <p:nvSpPr>
          <p:cNvPr id="6" name="Text 4"/>
          <p:cNvSpPr txBox="1"/>
          <p:nvPr/>
        </p:nvSpPr>
        <p:spPr>
          <a:xfrm>
            <a:off x="1143000" y="1709928"/>
            <a:ext cx="10424160" cy="713232"/>
          </a:xfrm>
          <a:prstGeom prst="rect">
            <a:avLst/>
          </a:prstGeom>
          <a:noFill/>
          <a:ln/>
        </p:spPr>
        <p:txBody>
          <a:bodyPr wrap="square" lIns="0" tIns="0" rIns="0" bIns="0" rtlCol="0" anchor="t"/>
          <a:lstStyle/>
          <a:p>
            <a:pPr indent="0" marL="0">
              <a:buNone/>
            </a:pPr>
            <a:r>
              <a:rPr lang="en-US" sz="1350" dirty="0">
                <a:solidFill>
                  <a:schemeClr val="tx2"/>
                </a:solidFill>
              </a:rPr>
              <a:t>A slip is a sound, a spoken warning and a red flash at the edge of the screen — never a lurch of the view. Moving the view when the person did not ask for it is the quickest way to make someone feel sick, and older people take the longest to shake it off.</a:t>
            </a:r>
            <a:endParaRPr lang="en-US" sz="1350" dirty="0"/>
          </a:p>
        </p:txBody>
      </p:sp>
      <p:sp>
        <p:nvSpPr>
          <p:cNvPr id="7" name="chip-53"/>
          <p:cNvSpPr/>
          <p:nvPr/>
        </p:nvSpPr>
        <p:spPr>
          <a:xfrm>
            <a:off x="548640" y="2587752"/>
            <a:ext cx="420624" cy="420624"/>
          </a:xfrm>
          <a:prstGeom prst="ellipse">
            <a:avLst/>
          </a:prstGeom>
          <a:solidFill>
            <a:srgbClr val="0E7C86"/>
          </a:solidFill>
          <a:ln w="12700">
            <a:solidFill>
              <a:srgbClr val="333333"/>
            </a:solidFill>
            <a:prstDash val="solid"/>
          </a:ln>
        </p:spPr>
      </p:sp>
      <p:sp>
        <p:nvSpPr>
          <p:cNvPr id="8" name="Text 6"/>
          <p:cNvSpPr txBox="1"/>
          <p:nvPr/>
        </p:nvSpPr>
        <p:spPr>
          <a:xfrm>
            <a:off x="548640" y="25877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B</a:t>
            </a:r>
            <a:endParaRPr lang="en-US" sz="1500" dirty="0"/>
          </a:p>
        </p:txBody>
      </p:sp>
      <p:sp>
        <p:nvSpPr>
          <p:cNvPr id="9" name="Text 7"/>
          <p:cNvSpPr txBox="1"/>
          <p:nvPr/>
        </p:nvSpPr>
        <p:spPr>
          <a:xfrm>
            <a:off x="1143000" y="2514600"/>
            <a:ext cx="10424160" cy="365760"/>
          </a:xfrm>
          <a:prstGeom prst="rect">
            <a:avLst/>
          </a:prstGeom>
          <a:noFill/>
          <a:ln/>
        </p:spPr>
        <p:txBody>
          <a:bodyPr wrap="square" lIns="0" tIns="0" rIns="0" bIns="0" rtlCol="0" anchor="ctr"/>
          <a:lstStyle/>
          <a:p>
            <a:pPr indent="0" marL="0">
              <a:buNone/>
            </a:pPr>
            <a:r>
              <a:rPr lang="en-US" sz="1700" b="1" dirty="0">
                <a:solidFill>
                  <a:srgbClr val="0E3A42"/>
                </a:solidFill>
              </a:rPr>
              <a:t>You move by pointing, always</a:t>
            </a:r>
            <a:endParaRPr lang="en-US" sz="1700" dirty="0"/>
          </a:p>
        </p:txBody>
      </p:sp>
      <p:sp>
        <p:nvSpPr>
          <p:cNvPr id="10" name="Text 8"/>
          <p:cNvSpPr txBox="1"/>
          <p:nvPr/>
        </p:nvSpPr>
        <p:spPr>
          <a:xfrm>
            <a:off x="1143000" y="2898648"/>
            <a:ext cx="10424160" cy="713232"/>
          </a:xfrm>
          <a:prstGeom prst="rect">
            <a:avLst/>
          </a:prstGeom>
          <a:noFill/>
          <a:ln/>
        </p:spPr>
        <p:txBody>
          <a:bodyPr wrap="square" lIns="0" tIns="0" rIns="0" bIns="0" rtlCol="0" anchor="t"/>
          <a:lstStyle/>
          <a:p>
            <a:pPr indent="0" marL="0">
              <a:buNone/>
            </a:pPr>
            <a:r>
              <a:rPr lang="en-US" sz="1350" dirty="0">
                <a:solidFill>
                  <a:schemeClr val="tx2"/>
                </a:solidFill>
              </a:rPr>
              <a:t>Gliding along is the other main cause of sickness. So you point at where you want to be and arrive there, and the edges of the view dim while you do. There is no other option.</a:t>
            </a:r>
            <a:endParaRPr lang="en-US" sz="1350" dirty="0"/>
          </a:p>
        </p:txBody>
      </p:sp>
      <p:sp>
        <p:nvSpPr>
          <p:cNvPr id="11" name="chip-54"/>
          <p:cNvSpPr/>
          <p:nvPr/>
        </p:nvSpPr>
        <p:spPr>
          <a:xfrm>
            <a:off x="548640" y="3776472"/>
            <a:ext cx="420624" cy="420624"/>
          </a:xfrm>
          <a:prstGeom prst="ellipse">
            <a:avLst/>
          </a:prstGeom>
          <a:solidFill>
            <a:srgbClr val="0E7C86"/>
          </a:solidFill>
          <a:ln w="12700">
            <a:solidFill>
              <a:srgbClr val="333333"/>
            </a:solidFill>
            <a:prstDash val="solid"/>
          </a:ln>
        </p:spPr>
      </p:sp>
      <p:sp>
        <p:nvSpPr>
          <p:cNvPr id="12" name="Text 10"/>
          <p:cNvSpPr txBox="1"/>
          <p:nvPr/>
        </p:nvSpPr>
        <p:spPr>
          <a:xfrm>
            <a:off x="548640" y="37764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C</a:t>
            </a:r>
            <a:endParaRPr lang="en-US" sz="1500" dirty="0"/>
          </a:p>
        </p:txBody>
      </p:sp>
      <p:sp>
        <p:nvSpPr>
          <p:cNvPr id="13" name="Text 11"/>
          <p:cNvSpPr txBox="1"/>
          <p:nvPr/>
        </p:nvSpPr>
        <p:spPr>
          <a:xfrm>
            <a:off x="1143000" y="3703320"/>
            <a:ext cx="10424160" cy="365760"/>
          </a:xfrm>
          <a:prstGeom prst="rect">
            <a:avLst/>
          </a:prstGeom>
          <a:noFill/>
          <a:ln/>
        </p:spPr>
        <p:txBody>
          <a:bodyPr wrap="square" lIns="0" tIns="0" rIns="0" bIns="0" rtlCol="0" anchor="ctr"/>
          <a:lstStyle/>
          <a:p>
            <a:pPr indent="0" marL="0">
              <a:buNone/>
            </a:pPr>
            <a:r>
              <a:rPr lang="en-US" sz="1700" b="1" dirty="0">
                <a:solidFill>
                  <a:srgbClr val="0E3A42"/>
                </a:solidFill>
              </a:rPr>
              <a:t>A proper seated mode</a:t>
            </a:r>
            <a:endParaRPr lang="en-US" sz="1700" dirty="0"/>
          </a:p>
        </p:txBody>
      </p:sp>
      <p:sp>
        <p:nvSpPr>
          <p:cNvPr id="14" name="Text 12"/>
          <p:cNvSpPr txBox="1"/>
          <p:nvPr/>
        </p:nvSpPr>
        <p:spPr>
          <a:xfrm>
            <a:off x="1143000" y="4087368"/>
            <a:ext cx="10424160" cy="713232"/>
          </a:xfrm>
          <a:prstGeom prst="rect">
            <a:avLst/>
          </a:prstGeom>
          <a:noFill/>
          <a:ln/>
        </p:spPr>
        <p:txBody>
          <a:bodyPr wrap="square" lIns="0" tIns="0" rIns="0" bIns="0" rtlCol="0" anchor="t"/>
          <a:lstStyle/>
          <a:p>
            <a:pPr indent="0" marL="0">
              <a:buNone/>
            </a:pPr>
            <a:r>
              <a:rPr lang="en-US" sz="1350" dirty="0">
                <a:solidFill>
                  <a:schemeClr val="tx2"/>
                </a:solidFill>
              </a:rPr>
              <a:t>Sitting down lifts the view so their eyes are at standing height. Worktops and handrails stay where their hands expect them.</a:t>
            </a:r>
            <a:endParaRPr lang="en-US" sz="1350" dirty="0"/>
          </a:p>
        </p:txBody>
      </p:sp>
      <p:sp>
        <p:nvSpPr>
          <p:cNvPr id="15" name="chip-55"/>
          <p:cNvSpPr/>
          <p:nvPr/>
        </p:nvSpPr>
        <p:spPr>
          <a:xfrm>
            <a:off x="548640" y="4965192"/>
            <a:ext cx="420624" cy="420624"/>
          </a:xfrm>
          <a:prstGeom prst="ellipse">
            <a:avLst/>
          </a:prstGeom>
          <a:solidFill>
            <a:srgbClr val="0E7C86"/>
          </a:solidFill>
          <a:ln w="12700">
            <a:solidFill>
              <a:srgbClr val="333333"/>
            </a:solidFill>
            <a:prstDash val="solid"/>
          </a:ln>
        </p:spPr>
      </p:sp>
      <p:sp>
        <p:nvSpPr>
          <p:cNvPr id="16" name="Text 14"/>
          <p:cNvSpPr txBox="1"/>
          <p:nvPr/>
        </p:nvSpPr>
        <p:spPr>
          <a:xfrm>
            <a:off x="548640" y="496519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D</a:t>
            </a:r>
            <a:endParaRPr lang="en-US" sz="1500" dirty="0"/>
          </a:p>
        </p:txBody>
      </p:sp>
      <p:sp>
        <p:nvSpPr>
          <p:cNvPr id="17" name="Text 15"/>
          <p:cNvSpPr txBox="1"/>
          <p:nvPr/>
        </p:nvSpPr>
        <p:spPr>
          <a:xfrm>
            <a:off x="1143000" y="4892040"/>
            <a:ext cx="10424160" cy="365760"/>
          </a:xfrm>
          <a:prstGeom prst="rect">
            <a:avLst/>
          </a:prstGeom>
          <a:noFill/>
          <a:ln/>
        </p:spPr>
        <p:txBody>
          <a:bodyPr wrap="square" lIns="0" tIns="0" rIns="0" bIns="0" rtlCol="0" anchor="ctr"/>
          <a:lstStyle/>
          <a:p>
            <a:pPr indent="0" marL="0">
              <a:buNone/>
            </a:pPr>
            <a:r>
              <a:rPr lang="en-US" sz="1700" b="1" dirty="0">
                <a:solidFill>
                  <a:srgbClr val="0E3A42"/>
                </a:solidFill>
              </a:rPr>
              <a:t>Buttons on the wall, not menus</a:t>
            </a:r>
            <a:endParaRPr lang="en-US" sz="1700" dirty="0"/>
          </a:p>
        </p:txBody>
      </p:sp>
      <p:sp>
        <p:nvSpPr>
          <p:cNvPr id="18" name="Text 16"/>
          <p:cNvSpPr txBox="1"/>
          <p:nvPr/>
        </p:nvSpPr>
        <p:spPr>
          <a:xfrm>
            <a:off x="1143000" y="5276088"/>
            <a:ext cx="10424160" cy="713232"/>
          </a:xfrm>
          <a:prstGeom prst="rect">
            <a:avLst/>
          </a:prstGeom>
          <a:noFill/>
          <a:ln/>
        </p:spPr>
        <p:txBody>
          <a:bodyPr wrap="square" lIns="0" tIns="0" rIns="0" bIns="0" rtlCol="0" anchor="t"/>
          <a:lstStyle/>
          <a:p>
            <a:pPr indent="0" marL="0">
              <a:buNone/>
            </a:pPr>
            <a:r>
              <a:rPr lang="en-US" sz="1350" dirty="0">
                <a:solidFill>
                  <a:schemeClr val="tx2"/>
                </a:solidFill>
              </a:rPr>
              <a:t>Most of the controller is switched off, so a stray thumb cannot do anything by accident. Everything you can change is a real button on the wall that you press.</a:t>
            </a:r>
            <a:endParaRPr lang="en-US" sz="1350" dirty="0"/>
          </a:p>
        </p:txBody>
      </p:sp>
      <p:sp>
        <p:nvSpPr>
          <p:cNvPr id="19" name="Text 17"/>
          <p:cNvSpPr txBox="1"/>
          <p:nvPr/>
        </p:nvSpPr>
        <p:spPr>
          <a:xfrm>
            <a:off x="548640" y="5943600"/>
            <a:ext cx="11064240" cy="320040"/>
          </a:xfrm>
          <a:prstGeom prst="rect">
            <a:avLst/>
          </a:prstGeom>
          <a:noFill/>
          <a:ln/>
        </p:spPr>
        <p:txBody>
          <a:bodyPr wrap="square" lIns="0" tIns="0" rIns="0" bIns="0" rtlCol="0" anchor="ctr"/>
          <a:lstStyle/>
          <a:p>
            <a:pPr indent="0" marL="0">
              <a:buNone/>
            </a:pPr>
            <a:r>
              <a:rPr lang="en-US" sz="1300" i="1" dirty="0">
                <a:solidFill>
                  <a:schemeClr val="tx2"/>
                </a:solidFill>
              </a:rPr>
              <a:t>Instructions are on screen and read aloud, and can be heard again or turned off at any time.</a:t>
            </a:r>
            <a:endParaRPr lang="en-US" sz="1300" dirty="0"/>
          </a:p>
        </p:txBody>
      </p:sp>
      <p:sp>
        <p:nvSpPr>
          <p:cNvPr id="25" name="Slide Number Placeholder 0"/>
          <p:cNvSpPr>
            <a:spLocks noGrp="1"/>
          </p:cNvSpPr>
          <p:nvPr>
            <p:ph type="sldNum" sz="quarter" idx="4294967295"/>
          </p:nvPr>
        </p:nvSpPr>
        <p:spPr>
          <a:xfrm>
            <a:off x="114300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7A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indent="0" marL="0">
              <a:buNone/>
            </a:pPr>
            <a:r>
              <a:rPr lang="en-US" sz="3600" b="1" dirty="0">
                <a:solidFill>
                  <a:srgbClr val="0E3A42"/>
                </a:solidFill>
              </a:rPr>
              <a:t>Every surface made from scratch</a:t>
            </a:r>
            <a:endParaRPr lang="en-US" sz="3600" dirty="0"/>
          </a:p>
        </p:txBody>
      </p:sp>
      <p:sp>
        <p:nvSpPr>
          <p:cNvPr id="3" name="Text 1"/>
          <p:cNvSpPr txBox="1"/>
          <p:nvPr/>
        </p:nvSpPr>
        <p:spPr>
          <a:xfrm>
            <a:off x="548640" y="1325880"/>
            <a:ext cx="5120640" cy="1737360"/>
          </a:xfrm>
          <a:prstGeom prst="rect">
            <a:avLst/>
          </a:prstGeom>
          <a:noFill/>
          <a:ln/>
        </p:spPr>
        <p:txBody>
          <a:bodyPr wrap="square" lIns="0" tIns="0" rIns="0" bIns="0" rtlCol="0" anchor="t"/>
          <a:lstStyle/>
          <a:p>
            <a:pPr indent="0" marL="0">
              <a:lnSpc>
                <a:spcPct val="115000"/>
              </a:lnSpc>
              <a:buNone/>
            </a:pPr>
            <a:r>
              <a:rPr lang="en-US" sz="1450" dirty="0">
                <a:solidFill>
                  <a:schemeClr val="tx1"/>
                </a:solidFill>
              </a:rPr>
              <a:t>The machine this was built on could not download anything. So all 25 surfaces — the colour, the bumpiness and the shine of each — are drawn by a script in the project itself. Oak boards, porcelain, slate, carpet, plaster, brick, paving, tarmac, leather, quartz, brushed steel.</a:t>
            </a:r>
            <a:endParaRPr lang="en-US" sz="1450" dirty="0"/>
          </a:p>
        </p:txBody>
      </p:sp>
      <p:sp>
        <p:nvSpPr>
          <p:cNvPr id="4" name="Text 2"/>
          <p:cNvSpPr txBox="1"/>
          <p:nvPr/>
        </p:nvSpPr>
        <p:spPr>
          <a:xfrm>
            <a:off x="548640" y="3246120"/>
            <a:ext cx="5120640" cy="310896"/>
          </a:xfrm>
          <a:prstGeom prst="rect">
            <a:avLst/>
          </a:prstGeom>
          <a:noFill/>
          <a:ln/>
        </p:spPr>
        <p:txBody>
          <a:bodyPr wrap="square" lIns="0" tIns="0" rIns="0" bIns="0" rtlCol="0" anchor="ctr"/>
          <a:lstStyle/>
          <a:p>
            <a:pPr indent="0" marL="0">
              <a:buNone/>
            </a:pPr>
            <a:r>
              <a:rPr lang="en-US" sz="1900" b="1" dirty="0">
                <a:solidFill>
                  <a:schemeClr val="tx2"/>
                </a:solidFill>
              </a:rPr>
              <a:t>Why that turned out better</a:t>
            </a:r>
            <a:endParaRPr lang="en-US" sz="1900" dirty="0"/>
          </a:p>
        </p:txBody>
      </p:sp>
      <p:sp>
        <p:nvSpPr>
          <p:cNvPr id="5" name="Text 3"/>
          <p:cNvSpPr txBox="1"/>
          <p:nvPr/>
        </p:nvSpPr>
        <p:spPr>
          <a:xfrm>
            <a:off x="548640" y="3703320"/>
            <a:ext cx="5120640" cy="2011680"/>
          </a:xfrm>
          <a:prstGeom prst="rect">
            <a:avLst/>
          </a:prstGeom>
          <a:noFill/>
          <a:ln/>
        </p:spPr>
        <p:txBody>
          <a:bodyPr wrap="square" lIns="0" tIns="0" rIns="0" bIns="0" rtlCol="0" anchor="t"/>
          <a:lstStyle/>
          <a:p>
            <a:pPr indent="0" marL="0">
              <a:lnSpc>
                <a:spcPct val="115000"/>
              </a:lnSpc>
              <a:buNone/>
            </a:pPr>
            <a:r>
              <a:rPr lang="en-US" sz="1350" dirty="0">
                <a:solidFill>
                  <a:schemeClr val="tx1"/>
                </a:solidFill>
              </a:rPr>
              <a:t>A surface drawn at its real size repeats with no visible join, and anything built from those measurements comes out the right size on its own.</a:t>
            </a:r>
            <a:endParaRPr lang="en-US" sz="1350" dirty="0"/>
          </a:p>
          <a:p>
            <a:pPr indent="0" marL="0">
              <a:lnSpc>
                <a:spcPct val="115000"/>
              </a:lnSpc>
              <a:buNone/>
            </a:pPr>
            <a:endParaRPr lang="en-US" sz="1350" dirty="0"/>
          </a:p>
          <a:p>
            <a:pPr indent="0" marL="0">
              <a:lnSpc>
                <a:spcPct val="115000"/>
              </a:lnSpc>
              <a:buNone/>
            </a:pPr>
            <a:r>
              <a:rPr lang="en-US" sz="1350" dirty="0">
                <a:solidFill>
                  <a:schemeClr val="tx1"/>
                </a:solidFill>
              </a:rPr>
              <a:t>The patterns are laid onto the room rather than onto each object, so floorboards run the whole length of the hallway and the lines between tiles carry on across a doorway instead of starting again at every slab.</a:t>
            </a:r>
            <a:endParaRPr lang="en-US" sz="1350" dirty="0"/>
          </a:p>
        </p:txBody>
      </p:sp>
      <p:pic>
        <p:nvPicPr>
          <p:cNvPr id="6" name="textures-56" descr="/mnt/user-data/uploads/VR-project/assets/textures/_preview/surfaces.png">    </p:cNvPr>
          <p:cNvPicPr>
            <a:picLocks noChangeAspect="1"/>
          </p:cNvPicPr>
          <p:nvPr/>
        </p:nvPicPr>
        <p:blipFill>
          <a:blip r:embed="rId1"/>
          <a:stretch>
            <a:fillRect/>
          </a:stretch>
        </p:blipFill>
        <p:spPr>
          <a:xfrm>
            <a:off x="6126480" y="1371600"/>
            <a:ext cx="5486400" cy="4142232"/>
          </a:xfrm>
          <a:prstGeom prst="rect">
            <a:avLst/>
          </a:prstGeom>
        </p:spPr>
      </p:pic>
      <p:sp>
        <p:nvSpPr>
          <p:cNvPr id="7" name="Text 4"/>
          <p:cNvSpPr txBox="1"/>
          <p:nvPr/>
        </p:nvSpPr>
        <p:spPr>
          <a:xfrm>
            <a:off x="6126480" y="5577840"/>
            <a:ext cx="5486400" cy="274320"/>
          </a:xfrm>
          <a:prstGeom prst="rect">
            <a:avLst/>
          </a:prstGeom>
          <a:noFill/>
          <a:ln/>
        </p:spPr>
        <p:txBody>
          <a:bodyPr wrap="square" lIns="0" tIns="0" rIns="0" bIns="0" rtlCol="0" anchor="ctr"/>
          <a:lstStyle/>
          <a:p>
            <a:pPr algn="ctr" indent="0" marL="0">
              <a:buNone/>
            </a:pPr>
            <a:r>
              <a:rPr lang="en-US" sz="1100" i="1" dirty="0">
                <a:solidFill>
                  <a:schemeClr val="tx2"/>
                </a:solidFill>
              </a:rPr>
              <a:t>23 of the 25 surfaces, each repeated four times so any join would show</a:t>
            </a:r>
            <a:endParaRPr lang="en-US" sz="1100" dirty="0"/>
          </a:p>
        </p:txBody>
      </p:sp>
      <p:sp>
        <p:nvSpPr>
          <p:cNvPr id="25" name="Slide Number Placeholder 0"/>
          <p:cNvSpPr>
            <a:spLocks noGrp="1"/>
          </p:cNvSpPr>
          <p:nvPr>
            <p:ph type="sldNum" sz="quarter" idx="4294967295"/>
          </p:nvPr>
        </p:nvSpPr>
        <p:spPr>
          <a:xfrm>
            <a:off x="114300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7A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indent="0" marL="0">
              <a:buNone/>
            </a:pPr>
            <a:r>
              <a:rPr lang="en-US" sz="3600" b="1" dirty="0">
                <a:solidFill>
                  <a:srgbClr val="0E3A42"/>
                </a:solidFill>
              </a:rPr>
              <a:t>Making it run on a laptop</a:t>
            </a:r>
            <a:endParaRPr lang="en-US" sz="3600" dirty="0"/>
          </a:p>
        </p:txBody>
      </p:sp>
      <p:sp>
        <p:nvSpPr>
          <p:cNvPr id="3" name="Text 1"/>
          <p:cNvSpPr txBox="1"/>
          <p:nvPr/>
        </p:nvSpPr>
        <p:spPr>
          <a:xfrm>
            <a:off x="548640" y="1325880"/>
            <a:ext cx="11064240" cy="822960"/>
          </a:xfrm>
          <a:prstGeom prst="rect">
            <a:avLst/>
          </a:prstGeom>
          <a:noFill/>
          <a:ln/>
        </p:spPr>
        <p:txBody>
          <a:bodyPr wrap="square" lIns="0" tIns="0" rIns="0" bIns="0" rtlCol="0" anchor="t"/>
          <a:lstStyle/>
          <a:p>
            <a:pPr indent="0" marL="0">
              <a:lnSpc>
                <a:spcPct val="115000"/>
              </a:lnSpc>
              <a:buNone/>
            </a:pPr>
            <a:r>
              <a:rPr lang="en-US" sz="1450" dirty="0">
                <a:solidFill>
                  <a:schemeClr val="tx1"/>
                </a:solidFill>
              </a:rPr>
              <a:t>Making it look real switched on effects that need a powerful graphics card. On a thin laptop that was far too much. So the expensive ones are grouped into three levels, picked automatically at startup and swapped at any time with F8.</a:t>
            </a:r>
            <a:endParaRPr lang="en-US" sz="1450" dirty="0"/>
          </a:p>
        </p:txBody>
      </p:sp>
      <p:sp>
        <p:nvSpPr>
          <p:cNvPr id="4" name="card-57"/>
          <p:cNvSpPr/>
          <p:nvPr/>
        </p:nvSpPr>
        <p:spPr>
          <a:xfrm>
            <a:off x="548640" y="2468880"/>
            <a:ext cx="3520440" cy="2240280"/>
          </a:xfrm>
          <a:prstGeom prst="roundRect">
            <a:avLst>
              <a:gd name="adj" fmla="val 4082"/>
            </a:avLst>
          </a:prstGeom>
          <a:solidFill>
            <a:srgbClr val="EEF3F4"/>
          </a:solidFill>
          <a:ln w="12700">
            <a:solidFill>
              <a:srgbClr val="FFFFFF"/>
            </a:solidFill>
            <a:prstDash val="solid"/>
          </a:ln>
        </p:spPr>
      </p:sp>
      <p:sp>
        <p:nvSpPr>
          <p:cNvPr id="5" name="dot-58"/>
          <p:cNvSpPr/>
          <p:nvPr/>
        </p:nvSpPr>
        <p:spPr>
          <a:xfrm>
            <a:off x="822960" y="2724912"/>
            <a:ext cx="237744" cy="237744"/>
          </a:xfrm>
          <a:prstGeom prst="ellipse">
            <a:avLst/>
          </a:prstGeom>
          <a:solidFill>
            <a:srgbClr val="2E9E5B"/>
          </a:solidFill>
          <a:ln w="12700">
            <a:solidFill>
              <a:srgbClr val="333333"/>
            </a:solidFill>
            <a:prstDash val="solid"/>
          </a:ln>
        </p:spPr>
      </p:sp>
      <p:sp>
        <p:nvSpPr>
          <p:cNvPr id="6" name="Text 4"/>
          <p:cNvSpPr txBox="1"/>
          <p:nvPr/>
        </p:nvSpPr>
        <p:spPr>
          <a:xfrm>
            <a:off x="1188720" y="2651760"/>
            <a:ext cx="2651760" cy="384048"/>
          </a:xfrm>
          <a:prstGeom prst="rect">
            <a:avLst/>
          </a:prstGeom>
          <a:noFill/>
          <a:ln/>
        </p:spPr>
        <p:txBody>
          <a:bodyPr wrap="square" lIns="0" tIns="0" rIns="0" bIns="0" rtlCol="0" anchor="ctr"/>
          <a:lstStyle/>
          <a:p>
            <a:pPr indent="0" marL="0">
              <a:buNone/>
            </a:pPr>
            <a:r>
              <a:rPr lang="en-US" sz="2000" b="1" dirty="0">
                <a:solidFill>
                  <a:srgbClr val="0E3A42"/>
                </a:solidFill>
              </a:rPr>
              <a:t>Smooth</a:t>
            </a:r>
            <a:endParaRPr lang="en-US" sz="2000" dirty="0"/>
          </a:p>
        </p:txBody>
      </p:sp>
      <p:sp>
        <p:nvSpPr>
          <p:cNvPr id="7" name="Text 5"/>
          <p:cNvSpPr txBox="1"/>
          <p:nvPr/>
        </p:nvSpPr>
        <p:spPr>
          <a:xfrm>
            <a:off x="822960" y="3090672"/>
            <a:ext cx="3017520" cy="274320"/>
          </a:xfrm>
          <a:prstGeom prst="rect">
            <a:avLst/>
          </a:prstGeom>
          <a:noFill/>
          <a:ln/>
        </p:spPr>
        <p:txBody>
          <a:bodyPr wrap="square" lIns="0" tIns="0" rIns="0" bIns="0" rtlCol="0" anchor="ctr"/>
          <a:lstStyle/>
          <a:p>
            <a:pPr indent="0" marL="0">
              <a:buNone/>
            </a:pPr>
            <a:r>
              <a:rPr lang="en-US" sz="1200" b="1" dirty="0">
                <a:solidFill>
                  <a:srgbClr val="2E9E5B"/>
                </a:solidFill>
              </a:rPr>
              <a:t>Built-in graphics</a:t>
            </a:r>
            <a:endParaRPr lang="en-US" sz="1200" dirty="0"/>
          </a:p>
        </p:txBody>
      </p:sp>
      <p:sp>
        <p:nvSpPr>
          <p:cNvPr id="8" name="Text 6"/>
          <p:cNvSpPr txBox="1"/>
          <p:nvPr/>
        </p:nvSpPr>
        <p:spPr>
          <a:xfrm>
            <a:off x="822960" y="3429000"/>
            <a:ext cx="3017520" cy="1645920"/>
          </a:xfrm>
          <a:prstGeom prst="rect">
            <a:avLst/>
          </a:prstGeom>
          <a:noFill/>
          <a:ln/>
        </p:spPr>
        <p:txBody>
          <a:bodyPr wrap="square" lIns="0" tIns="0" rIns="0" bIns="0" rtlCol="0" anchor="t"/>
          <a:lstStyle/>
          <a:p>
            <a:pPr indent="0" marL="0">
              <a:buNone/>
            </a:pPr>
            <a:r>
              <a:rPr lang="en-US" sz="1250" dirty="0">
                <a:solidFill>
                  <a:schemeClr val="tx2"/>
                </a:solidFill>
              </a:rPr>
              <a:t>Simpler lighting, and no shadows from the lamps. Draws at three quarters size and sharpens it back up. Keeps every surface, the rounded edges and the shadows from the sun.</a:t>
            </a:r>
            <a:endParaRPr lang="en-US" sz="1250" dirty="0"/>
          </a:p>
        </p:txBody>
      </p:sp>
      <p:sp>
        <p:nvSpPr>
          <p:cNvPr id="9" name="card-59"/>
          <p:cNvSpPr/>
          <p:nvPr/>
        </p:nvSpPr>
        <p:spPr>
          <a:xfrm>
            <a:off x="4343400" y="2468880"/>
            <a:ext cx="3520440" cy="2240280"/>
          </a:xfrm>
          <a:prstGeom prst="roundRect">
            <a:avLst>
              <a:gd name="adj" fmla="val 4082"/>
            </a:avLst>
          </a:prstGeom>
          <a:solidFill>
            <a:srgbClr val="EEF3F4"/>
          </a:solidFill>
          <a:ln w="12700">
            <a:solidFill>
              <a:srgbClr val="FFFFFF"/>
            </a:solidFill>
            <a:prstDash val="solid"/>
          </a:ln>
        </p:spPr>
      </p:sp>
      <p:sp>
        <p:nvSpPr>
          <p:cNvPr id="10" name="dot-60"/>
          <p:cNvSpPr/>
          <p:nvPr/>
        </p:nvSpPr>
        <p:spPr>
          <a:xfrm>
            <a:off x="4617720" y="2724912"/>
            <a:ext cx="237744" cy="237744"/>
          </a:xfrm>
          <a:prstGeom prst="ellipse">
            <a:avLst/>
          </a:prstGeom>
          <a:solidFill>
            <a:srgbClr val="0E7C86"/>
          </a:solidFill>
          <a:ln w="12700">
            <a:solidFill>
              <a:srgbClr val="333333"/>
            </a:solidFill>
            <a:prstDash val="solid"/>
          </a:ln>
        </p:spPr>
      </p:sp>
      <p:sp>
        <p:nvSpPr>
          <p:cNvPr id="11" name="Text 9"/>
          <p:cNvSpPr txBox="1"/>
          <p:nvPr/>
        </p:nvSpPr>
        <p:spPr>
          <a:xfrm>
            <a:off x="4983480" y="2651760"/>
            <a:ext cx="2651760" cy="384048"/>
          </a:xfrm>
          <a:prstGeom prst="rect">
            <a:avLst/>
          </a:prstGeom>
          <a:noFill/>
          <a:ln/>
        </p:spPr>
        <p:txBody>
          <a:bodyPr wrap="square" lIns="0" tIns="0" rIns="0" bIns="0" rtlCol="0" anchor="ctr"/>
          <a:lstStyle/>
          <a:p>
            <a:pPr indent="0" marL="0">
              <a:buNone/>
            </a:pPr>
            <a:r>
              <a:rPr lang="en-US" sz="2000" b="1" dirty="0">
                <a:solidFill>
                  <a:srgbClr val="0E3A42"/>
                </a:solidFill>
              </a:rPr>
              <a:t>Balanced</a:t>
            </a:r>
            <a:endParaRPr lang="en-US" sz="2000" dirty="0"/>
          </a:p>
        </p:txBody>
      </p:sp>
      <p:sp>
        <p:nvSpPr>
          <p:cNvPr id="12" name="Text 10"/>
          <p:cNvSpPr txBox="1"/>
          <p:nvPr/>
        </p:nvSpPr>
        <p:spPr>
          <a:xfrm>
            <a:off x="4617720" y="3090672"/>
            <a:ext cx="3017520" cy="274320"/>
          </a:xfrm>
          <a:prstGeom prst="rect">
            <a:avLst/>
          </a:prstGeom>
          <a:noFill/>
          <a:ln/>
        </p:spPr>
        <p:txBody>
          <a:bodyPr wrap="square" lIns="0" tIns="0" rIns="0" bIns="0" rtlCol="0" anchor="ctr"/>
          <a:lstStyle/>
          <a:p>
            <a:pPr indent="0" marL="0">
              <a:buNone/>
            </a:pPr>
            <a:r>
              <a:rPr lang="en-US" sz="1200" b="1" dirty="0">
                <a:solidFill>
                  <a:srgbClr val="0E7C86"/>
                </a:solidFill>
              </a:rPr>
              <a:t>Most machines</a:t>
            </a:r>
            <a:endParaRPr lang="en-US" sz="1200" dirty="0"/>
          </a:p>
        </p:txBody>
      </p:sp>
      <p:sp>
        <p:nvSpPr>
          <p:cNvPr id="13" name="Text 11"/>
          <p:cNvSpPr txBox="1"/>
          <p:nvPr/>
        </p:nvSpPr>
        <p:spPr>
          <a:xfrm>
            <a:off x="4617720" y="3429000"/>
            <a:ext cx="3017520" cy="1645920"/>
          </a:xfrm>
          <a:prstGeom prst="rect">
            <a:avLst/>
          </a:prstGeom>
          <a:noFill/>
          <a:ln/>
        </p:spPr>
        <p:txBody>
          <a:bodyPr wrap="square" lIns="0" tIns="0" rIns="0" bIns="0" rtlCol="0" anchor="t"/>
          <a:lstStyle/>
          <a:p>
            <a:pPr indent="0" marL="0">
              <a:buNone/>
            </a:pPr>
            <a:r>
              <a:rPr lang="en-US" sz="1250" dirty="0">
                <a:solidFill>
                  <a:schemeClr val="tx2"/>
                </a:solidFill>
              </a:rPr>
              <a:t>Adds reflections, softer shadows from the sun, and shafts of light through the windows. Draws at 85% size.</a:t>
            </a:r>
            <a:endParaRPr lang="en-US" sz="1250" dirty="0"/>
          </a:p>
        </p:txBody>
      </p:sp>
      <p:sp>
        <p:nvSpPr>
          <p:cNvPr id="14" name="card-61"/>
          <p:cNvSpPr/>
          <p:nvPr/>
        </p:nvSpPr>
        <p:spPr>
          <a:xfrm>
            <a:off x="8138160" y="2468880"/>
            <a:ext cx="3520440" cy="2240280"/>
          </a:xfrm>
          <a:prstGeom prst="roundRect">
            <a:avLst>
              <a:gd name="adj" fmla="val 4082"/>
            </a:avLst>
          </a:prstGeom>
          <a:solidFill>
            <a:srgbClr val="EEF3F4"/>
          </a:solidFill>
          <a:ln w="12700">
            <a:solidFill>
              <a:srgbClr val="FFFFFF"/>
            </a:solidFill>
            <a:prstDash val="solid"/>
          </a:ln>
        </p:spPr>
      </p:sp>
      <p:sp>
        <p:nvSpPr>
          <p:cNvPr id="15" name="dot-62"/>
          <p:cNvSpPr/>
          <p:nvPr/>
        </p:nvSpPr>
        <p:spPr>
          <a:xfrm>
            <a:off x="8412480" y="2724912"/>
            <a:ext cx="237744" cy="237744"/>
          </a:xfrm>
          <a:prstGeom prst="ellipse">
            <a:avLst/>
          </a:prstGeom>
          <a:solidFill>
            <a:srgbClr val="F2A93B"/>
          </a:solidFill>
          <a:ln w="12700">
            <a:solidFill>
              <a:srgbClr val="333333"/>
            </a:solidFill>
            <a:prstDash val="solid"/>
          </a:ln>
        </p:spPr>
      </p:sp>
      <p:sp>
        <p:nvSpPr>
          <p:cNvPr id="16" name="Text 14"/>
          <p:cNvSpPr txBox="1"/>
          <p:nvPr/>
        </p:nvSpPr>
        <p:spPr>
          <a:xfrm>
            <a:off x="8778240" y="2651760"/>
            <a:ext cx="2651760" cy="384048"/>
          </a:xfrm>
          <a:prstGeom prst="rect">
            <a:avLst/>
          </a:prstGeom>
          <a:noFill/>
          <a:ln/>
        </p:spPr>
        <p:txBody>
          <a:bodyPr wrap="square" lIns="0" tIns="0" rIns="0" bIns="0" rtlCol="0" anchor="ctr"/>
          <a:lstStyle/>
          <a:p>
            <a:pPr indent="0" marL="0">
              <a:buNone/>
            </a:pPr>
            <a:r>
              <a:rPr lang="en-US" sz="2000" b="1" dirty="0">
                <a:solidFill>
                  <a:srgbClr val="0E3A42"/>
                </a:solidFill>
              </a:rPr>
              <a:t>Ultra</a:t>
            </a:r>
            <a:endParaRPr lang="en-US" sz="2000" dirty="0"/>
          </a:p>
        </p:txBody>
      </p:sp>
      <p:sp>
        <p:nvSpPr>
          <p:cNvPr id="17" name="Text 15"/>
          <p:cNvSpPr txBox="1"/>
          <p:nvPr/>
        </p:nvSpPr>
        <p:spPr>
          <a:xfrm>
            <a:off x="8412480" y="3090672"/>
            <a:ext cx="3017520" cy="274320"/>
          </a:xfrm>
          <a:prstGeom prst="rect">
            <a:avLst/>
          </a:prstGeom>
          <a:noFill/>
          <a:ln/>
        </p:spPr>
        <p:txBody>
          <a:bodyPr wrap="square" lIns="0" tIns="0" rIns="0" bIns="0" rtlCol="0" anchor="ctr"/>
          <a:lstStyle/>
          <a:p>
            <a:pPr indent="0" marL="0">
              <a:buNone/>
            </a:pPr>
            <a:r>
              <a:rPr lang="en-US" sz="1200" b="1" dirty="0">
                <a:solidFill>
                  <a:srgbClr val="F2A93B"/>
                </a:solidFill>
              </a:rPr>
              <a:t>Desktop with a graphics card</a:t>
            </a:r>
            <a:endParaRPr lang="en-US" sz="1200" dirty="0"/>
          </a:p>
        </p:txBody>
      </p:sp>
      <p:sp>
        <p:nvSpPr>
          <p:cNvPr id="18" name="Text 16"/>
          <p:cNvSpPr txBox="1"/>
          <p:nvPr/>
        </p:nvSpPr>
        <p:spPr>
          <a:xfrm>
            <a:off x="8412480" y="3429000"/>
            <a:ext cx="3017520" cy="1645920"/>
          </a:xfrm>
          <a:prstGeom prst="rect">
            <a:avLst/>
          </a:prstGeom>
          <a:noFill/>
          <a:ln/>
        </p:spPr>
        <p:txBody>
          <a:bodyPr wrap="square" lIns="0" tIns="0" rIns="0" bIns="0" rtlCol="0" anchor="t"/>
          <a:lstStyle/>
          <a:p>
            <a:pPr indent="0" marL="0">
              <a:buNone/>
            </a:pPr>
            <a:r>
              <a:rPr lang="en-US" sz="1250" dirty="0">
                <a:solidFill>
                  <a:schemeClr val="tx2"/>
                </a:solidFill>
              </a:rPr>
              <a:t>Everything: light bouncing off the walls, haze in the air, and every lamp casting its own shadow. Full size.</a:t>
            </a:r>
            <a:endParaRPr lang="en-US" sz="1250" dirty="0"/>
          </a:p>
        </p:txBody>
      </p:sp>
      <p:sp>
        <p:nvSpPr>
          <p:cNvPr id="19" name="Text 17"/>
          <p:cNvSpPr txBox="1"/>
          <p:nvPr/>
        </p:nvSpPr>
        <p:spPr>
          <a:xfrm>
            <a:off x="548640" y="5440680"/>
            <a:ext cx="11064240" cy="548640"/>
          </a:xfrm>
          <a:prstGeom prst="rect">
            <a:avLst/>
          </a:prstGeom>
          <a:noFill/>
          <a:ln/>
        </p:spPr>
        <p:txBody>
          <a:bodyPr wrap="square" lIns="0" tIns="0" rIns="0" bIns="0" rtlCol="0" anchor="ctr"/>
          <a:lstStyle/>
          <a:p>
            <a:pPr indent="0" marL="0">
              <a:buNone/>
            </a:pPr>
            <a:r>
              <a:rPr lang="en-US" sz="1300" i="1" dirty="0">
                <a:solidFill>
                  <a:schemeClr val="tx2"/>
                </a:solidFill>
              </a:rPr>
              <a:t>The most expensive thing was shadows from lamps. Each lamp has to look in six directions, so five lamps meant drawing the room thirty extra times every frame.</a:t>
            </a:r>
            <a:endParaRPr lang="en-US" sz="1300" dirty="0"/>
          </a:p>
        </p:txBody>
      </p:sp>
      <p:sp>
        <p:nvSpPr>
          <p:cNvPr id="25" name="Slide Number Placeholder 0"/>
          <p:cNvSpPr>
            <a:spLocks noGrp="1"/>
          </p:cNvSpPr>
          <p:nvPr>
            <p:ph type="sldNum" sz="quarter" idx="4294967295"/>
          </p:nvPr>
        </p:nvSpPr>
        <p:spPr>
          <a:xfrm>
            <a:off x="114300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7A80"/>
                </a:solidFill>
              </a:defRPr>
            </a:lvl1pPr>
          </a:lstStyle>
          <a:p>
            <a:pPr algn="r"/>
            <a:fld id="{F7021451-1387-4CA6-816F-3879F97B5CBC}" type="slidenum">
              <a:rPr b="0" lang="en-US"/>
              <a:t>16</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rb-71"/>
          <p:cNvSpPr/>
          <p:nvPr/>
        </p:nvSpPr>
        <p:spPr>
          <a:xfrm>
            <a:off x="9326880" y="1005840"/>
            <a:ext cx="4937760" cy="4937760"/>
          </a:xfrm>
          <a:prstGeom prst="ellipse">
            <a:avLst/>
          </a:prstGeom>
          <a:solidFill>
            <a:srgbClr val="0E7C86">
              <a:alpha val="24000"/>
            </a:srgbClr>
          </a:solidFill>
          <a:ln w="12700">
            <a:solidFill>
              <a:srgbClr val="333333"/>
            </a:solidFill>
            <a:prstDash val="solid"/>
          </a:ln>
        </p:spPr>
      </p:sp>
      <p:sp>
        <p:nvSpPr>
          <p:cNvPr id="3" name="Text 1"/>
          <p:cNvSpPr txBox="1"/>
          <p:nvPr/>
        </p:nvSpPr>
        <p:spPr>
          <a:xfrm>
            <a:off x="822960" y="1051560"/>
            <a:ext cx="8229600" cy="548640"/>
          </a:xfrm>
          <a:prstGeom prst="rect">
            <a:avLst/>
          </a:prstGeom>
          <a:noFill/>
          <a:ln/>
        </p:spPr>
        <p:txBody>
          <a:bodyPr wrap="square" lIns="0" tIns="0" rIns="0" bIns="0" rtlCol="0" anchor="ctr"/>
          <a:lstStyle/>
          <a:p>
            <a:pPr indent="0" marL="0">
              <a:buNone/>
            </a:pPr>
            <a:r>
              <a:rPr lang="en-US" sz="3400" b="1" dirty="0">
                <a:solidFill>
                  <a:srgbClr val="FFFFFF"/>
                </a:solidFill>
              </a:rPr>
              <a:t>Where it stands</a:t>
            </a:r>
            <a:endParaRPr lang="en-US" sz="3400" dirty="0"/>
          </a:p>
        </p:txBody>
      </p:sp>
      <p:sp>
        <p:nvSpPr>
          <p:cNvPr id="4" name="chip-72"/>
          <p:cNvSpPr/>
          <p:nvPr/>
        </p:nvSpPr>
        <p:spPr>
          <a:xfrm>
            <a:off x="822960" y="1874520"/>
            <a:ext cx="420624" cy="420624"/>
          </a:xfrm>
          <a:prstGeom prst="ellipse">
            <a:avLst/>
          </a:prstGeom>
          <a:solidFill>
            <a:srgbClr val="2E9E5B"/>
          </a:solidFill>
          <a:ln w="12700">
            <a:solidFill>
              <a:srgbClr val="333333"/>
            </a:solidFill>
            <a:prstDash val="solid"/>
          </a:ln>
        </p:spPr>
      </p:sp>
      <p:sp>
        <p:nvSpPr>
          <p:cNvPr id="5" name="Text 3"/>
          <p:cNvSpPr txBox="1"/>
          <p:nvPr/>
        </p:nvSpPr>
        <p:spPr>
          <a:xfrm>
            <a:off x="822960" y="18745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6" name="Text 4"/>
          <p:cNvSpPr txBox="1"/>
          <p:nvPr/>
        </p:nvSpPr>
        <p:spPr>
          <a:xfrm>
            <a:off x="1417320" y="1837944"/>
            <a:ext cx="6949440" cy="347472"/>
          </a:xfrm>
          <a:prstGeom prst="rect">
            <a:avLst/>
          </a:prstGeom>
          <a:noFill/>
          <a:ln/>
        </p:spPr>
        <p:txBody>
          <a:bodyPr wrap="square" lIns="0" tIns="0" rIns="0" bIns="0" rtlCol="0" anchor="ctr"/>
          <a:lstStyle/>
          <a:p>
            <a:pPr indent="0" marL="0">
              <a:buNone/>
            </a:pPr>
            <a:r>
              <a:rPr lang="en-US" sz="1700" b="1" dirty="0">
                <a:solidFill>
                  <a:srgbClr val="FFFFFF"/>
                </a:solidFill>
              </a:rPr>
              <a:t>Five measured training tasks</a:t>
            </a:r>
            <a:endParaRPr lang="en-US" sz="1700" dirty="0"/>
          </a:p>
        </p:txBody>
      </p:sp>
      <p:sp>
        <p:nvSpPr>
          <p:cNvPr id="7" name="Text 5"/>
          <p:cNvSpPr txBox="1"/>
          <p:nvPr/>
        </p:nvSpPr>
        <p:spPr>
          <a:xfrm>
            <a:off x="1417320" y="2185416"/>
            <a:ext cx="6949440" cy="310896"/>
          </a:xfrm>
          <a:prstGeom prst="rect">
            <a:avLst/>
          </a:prstGeom>
          <a:noFill/>
          <a:ln/>
        </p:spPr>
        <p:txBody>
          <a:bodyPr wrap="square" lIns="0" tIns="0" rIns="0" bIns="0" rtlCol="0" anchor="ctr"/>
          <a:lstStyle/>
          <a:p>
            <a:pPr indent="0" marL="0">
              <a:buNone/>
            </a:pPr>
            <a:r>
              <a:rPr lang="en-US" sz="1300" dirty="0">
                <a:solidFill>
                  <a:srgbClr val="8FB8BE"/>
                </a:solidFill>
              </a:rPr>
              <a:t>dangers, handrail, walking, balance, crossing the road</a:t>
            </a:r>
            <a:endParaRPr lang="en-US" sz="1300" dirty="0"/>
          </a:p>
        </p:txBody>
      </p:sp>
      <p:sp>
        <p:nvSpPr>
          <p:cNvPr id="8" name="chip-73"/>
          <p:cNvSpPr/>
          <p:nvPr/>
        </p:nvSpPr>
        <p:spPr>
          <a:xfrm>
            <a:off x="822960" y="2715768"/>
            <a:ext cx="420624" cy="420624"/>
          </a:xfrm>
          <a:prstGeom prst="ellipse">
            <a:avLst/>
          </a:prstGeom>
          <a:solidFill>
            <a:srgbClr val="2E9E5B"/>
          </a:solidFill>
          <a:ln w="12700">
            <a:solidFill>
              <a:srgbClr val="333333"/>
            </a:solidFill>
            <a:prstDash val="solid"/>
          </a:ln>
        </p:spPr>
      </p:sp>
      <p:sp>
        <p:nvSpPr>
          <p:cNvPr id="9" name="Text 7"/>
          <p:cNvSpPr txBox="1"/>
          <p:nvPr/>
        </p:nvSpPr>
        <p:spPr>
          <a:xfrm>
            <a:off x="822960" y="271576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0" name="Text 8"/>
          <p:cNvSpPr txBox="1"/>
          <p:nvPr/>
        </p:nvSpPr>
        <p:spPr>
          <a:xfrm>
            <a:off x="1417320" y="2679192"/>
            <a:ext cx="6949440" cy="347472"/>
          </a:xfrm>
          <a:prstGeom prst="rect">
            <a:avLst/>
          </a:prstGeom>
          <a:noFill/>
          <a:ln/>
        </p:spPr>
        <p:txBody>
          <a:bodyPr wrap="square" lIns="0" tIns="0" rIns="0" bIns="0" rtlCol="0" anchor="ctr"/>
          <a:lstStyle/>
          <a:p>
            <a:pPr indent="0" marL="0">
              <a:buNone/>
            </a:pPr>
            <a:r>
              <a:rPr lang="en-US" sz="1700" b="1" dirty="0">
                <a:solidFill>
                  <a:srgbClr val="FFFFFF"/>
                </a:solidFill>
              </a:rPr>
              <a:t>Six rooms and a street, day or night</a:t>
            </a:r>
            <a:endParaRPr lang="en-US" sz="1700" dirty="0"/>
          </a:p>
        </p:txBody>
      </p:sp>
      <p:sp>
        <p:nvSpPr>
          <p:cNvPr id="11" name="Text 9"/>
          <p:cNvSpPr txBox="1"/>
          <p:nvPr/>
        </p:nvSpPr>
        <p:spPr>
          <a:xfrm>
            <a:off x="1417320" y="3026664"/>
            <a:ext cx="6949440" cy="310896"/>
          </a:xfrm>
          <a:prstGeom prst="rect">
            <a:avLst/>
          </a:prstGeom>
          <a:noFill/>
          <a:ln/>
        </p:spPr>
        <p:txBody>
          <a:bodyPr wrap="square" lIns="0" tIns="0" rIns="0" bIns="0" rtlCol="0" anchor="ctr"/>
          <a:lstStyle/>
          <a:p>
            <a:pPr indent="0" marL="0">
              <a:buNone/>
            </a:pPr>
            <a:r>
              <a:rPr lang="en-US" sz="1300" dirty="0">
                <a:solidFill>
                  <a:srgbClr val="8FB8BE"/>
                </a:solidFill>
              </a:rPr>
              <a:t>27 real dangers, 7 safe ones, 26 walks</a:t>
            </a:r>
            <a:endParaRPr lang="en-US" sz="1300" dirty="0"/>
          </a:p>
        </p:txBody>
      </p:sp>
      <p:sp>
        <p:nvSpPr>
          <p:cNvPr id="12" name="chip-74"/>
          <p:cNvSpPr/>
          <p:nvPr/>
        </p:nvSpPr>
        <p:spPr>
          <a:xfrm>
            <a:off x="822960" y="3557016"/>
            <a:ext cx="420624" cy="420624"/>
          </a:xfrm>
          <a:prstGeom prst="ellipse">
            <a:avLst/>
          </a:prstGeom>
          <a:solidFill>
            <a:srgbClr val="2E9E5B"/>
          </a:solidFill>
          <a:ln w="12700">
            <a:solidFill>
              <a:srgbClr val="333333"/>
            </a:solidFill>
            <a:prstDash val="solid"/>
          </a:ln>
        </p:spPr>
      </p:sp>
      <p:sp>
        <p:nvSpPr>
          <p:cNvPr id="13" name="Text 11"/>
          <p:cNvSpPr txBox="1"/>
          <p:nvPr/>
        </p:nvSpPr>
        <p:spPr>
          <a:xfrm>
            <a:off x="822960" y="355701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4" name="Text 12"/>
          <p:cNvSpPr txBox="1"/>
          <p:nvPr/>
        </p:nvSpPr>
        <p:spPr>
          <a:xfrm>
            <a:off x="1417320" y="3520440"/>
            <a:ext cx="6949440" cy="347472"/>
          </a:xfrm>
          <a:prstGeom prst="rect">
            <a:avLst/>
          </a:prstGeom>
          <a:noFill/>
          <a:ln/>
        </p:spPr>
        <p:txBody>
          <a:bodyPr wrap="square" lIns="0" tIns="0" rIns="0" bIns="0" rtlCol="0" anchor="ctr"/>
          <a:lstStyle/>
          <a:p>
            <a:pPr indent="0" marL="0">
              <a:buNone/>
            </a:pPr>
            <a:r>
              <a:rPr lang="en-US" sz="1700" b="1" dirty="0">
                <a:solidFill>
                  <a:srgbClr val="FFFFFF"/>
                </a:solidFill>
              </a:rPr>
              <a:t>Scored per test, and adaptive</a:t>
            </a:r>
            <a:endParaRPr lang="en-US" sz="1700" dirty="0"/>
          </a:p>
        </p:txBody>
      </p:sp>
      <p:sp>
        <p:nvSpPr>
          <p:cNvPr id="15" name="Text 13"/>
          <p:cNvSpPr txBox="1"/>
          <p:nvPr/>
        </p:nvSpPr>
        <p:spPr>
          <a:xfrm>
            <a:off x="1417320" y="3867912"/>
            <a:ext cx="6949440" cy="310896"/>
          </a:xfrm>
          <a:prstGeom prst="rect">
            <a:avLst/>
          </a:prstGeom>
          <a:noFill/>
          <a:ln/>
        </p:spPr>
        <p:txBody>
          <a:bodyPr wrap="square" lIns="0" tIns="0" rIns="0" bIns="0" rtlCol="0" anchor="ctr"/>
          <a:lstStyle/>
          <a:p>
            <a:pPr indent="0" marL="0">
              <a:buNone/>
            </a:pPr>
            <a:r>
              <a:rPr lang="en-US" sz="1300" dirty="0">
                <a:solidFill>
                  <a:srgbClr val="8FB8BE"/>
                </a:solidFill>
              </a:rPr>
              <a:t>the weakest skill becomes next time's focus</a:t>
            </a:r>
            <a:endParaRPr lang="en-US" sz="1300" dirty="0"/>
          </a:p>
        </p:txBody>
      </p:sp>
      <p:sp>
        <p:nvSpPr>
          <p:cNvPr id="16" name="chip-75"/>
          <p:cNvSpPr/>
          <p:nvPr/>
        </p:nvSpPr>
        <p:spPr>
          <a:xfrm>
            <a:off x="822960" y="4398264"/>
            <a:ext cx="420624" cy="420624"/>
          </a:xfrm>
          <a:prstGeom prst="ellipse">
            <a:avLst/>
          </a:prstGeom>
          <a:solidFill>
            <a:srgbClr val="2E9E5B"/>
          </a:solidFill>
          <a:ln w="12700">
            <a:solidFill>
              <a:srgbClr val="333333"/>
            </a:solidFill>
            <a:prstDash val="solid"/>
          </a:ln>
        </p:spPr>
      </p:sp>
      <p:sp>
        <p:nvSpPr>
          <p:cNvPr id="17" name="Text 15"/>
          <p:cNvSpPr txBox="1"/>
          <p:nvPr/>
        </p:nvSpPr>
        <p:spPr>
          <a:xfrm>
            <a:off x="822960" y="439826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8" name="Text 16"/>
          <p:cNvSpPr txBox="1"/>
          <p:nvPr/>
        </p:nvSpPr>
        <p:spPr>
          <a:xfrm>
            <a:off x="1417320" y="4361688"/>
            <a:ext cx="6949440" cy="347472"/>
          </a:xfrm>
          <a:prstGeom prst="rect">
            <a:avLst/>
          </a:prstGeom>
          <a:noFill/>
          <a:ln/>
        </p:spPr>
        <p:txBody>
          <a:bodyPr wrap="square" lIns="0" tIns="0" rIns="0" bIns="0" rtlCol="0" anchor="ctr"/>
          <a:lstStyle/>
          <a:p>
            <a:pPr indent="0" marL="0">
              <a:buNone/>
            </a:pPr>
            <a:r>
              <a:rPr lang="en-US" sz="1700" b="1" dirty="0">
                <a:solidFill>
                  <a:srgbClr val="FFFFFF"/>
                </a:solidFill>
              </a:rPr>
              <a:t>Runs in a headset or on a laptop</a:t>
            </a:r>
            <a:endParaRPr lang="en-US" sz="1700" dirty="0"/>
          </a:p>
        </p:txBody>
      </p:sp>
      <p:sp>
        <p:nvSpPr>
          <p:cNvPr id="19" name="Text 17"/>
          <p:cNvSpPr txBox="1"/>
          <p:nvPr/>
        </p:nvSpPr>
        <p:spPr>
          <a:xfrm>
            <a:off x="1417320" y="4709160"/>
            <a:ext cx="6949440" cy="310896"/>
          </a:xfrm>
          <a:prstGeom prst="rect">
            <a:avLst/>
          </a:prstGeom>
          <a:noFill/>
          <a:ln/>
        </p:spPr>
        <p:txBody>
          <a:bodyPr wrap="square" lIns="0" tIns="0" rIns="0" bIns="0" rtlCol="0" anchor="ctr"/>
          <a:lstStyle/>
          <a:p>
            <a:pPr indent="0" marL="0">
              <a:buNone/>
            </a:pPr>
            <a:r>
              <a:rPr lang="en-US" sz="1300" dirty="0">
                <a:solidFill>
                  <a:srgbClr val="8FB8BE"/>
                </a:solidFill>
              </a:rPr>
              <a:t>three quality levels, swapped with F8</a:t>
            </a:r>
            <a:endParaRPr lang="en-US" sz="1300" dirty="0"/>
          </a:p>
        </p:txBody>
      </p:sp>
      <p:sp>
        <p:nvSpPr>
          <p:cNvPr id="20" name="Text 18"/>
          <p:cNvSpPr txBox="1"/>
          <p:nvPr/>
        </p:nvSpPr>
        <p:spPr>
          <a:xfrm>
            <a:off x="822960" y="5440680"/>
            <a:ext cx="8229600" cy="365760"/>
          </a:xfrm>
          <a:prstGeom prst="rect">
            <a:avLst/>
          </a:prstGeom>
          <a:noFill/>
          <a:ln/>
        </p:spPr>
        <p:txBody>
          <a:bodyPr wrap="square" lIns="0" tIns="0" rIns="0" bIns="0" rtlCol="0" anchor="ctr"/>
          <a:lstStyle/>
          <a:p>
            <a:pPr indent="0" marL="0">
              <a:buNone/>
            </a:pPr>
            <a:r>
              <a:rPr lang="en-US" sz="1500" i="1" dirty="0">
                <a:solidFill>
                  <a:srgbClr val="F2A93B"/>
                </a:solidFill>
              </a:rPr>
              <a:t>Next: try it with older adults, and measure a second rail at the bath.</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77240"/>
          </a:xfrm>
          <a:prstGeom prst="rect">
            <a:avLst/>
          </a:prstGeom>
          <a:noFill/>
          <a:ln/>
        </p:spPr>
        <p:txBody>
          <a:bodyPr wrap="square" rtlCol="0" anchor="ctr"/>
          <a:lstStyle/>
          <a:p>
            <a:pPr indent="0" marL="0">
              <a:buNone/>
            </a:pPr>
            <a:r>
              <a:rPr lang="en-US" sz="3600" b="1" dirty="0">
                <a:solidFill>
                  <a:srgbClr val="0E3A42"/>
                </a:solidFill>
              </a:rPr>
              <a:t>Four more things it does</a:t>
            </a:r>
            <a:endParaRPr lang="en-US" sz="3600" dirty="0"/>
          </a:p>
        </p:txBody>
      </p:sp>
      <p:sp>
        <p:nvSpPr>
          <p:cNvPr id="3" name="chip-52"/>
          <p:cNvSpPr/>
          <p:nvPr/>
        </p:nvSpPr>
        <p:spPr>
          <a:xfrm>
            <a:off x="548640" y="1399032"/>
            <a:ext cx="420624" cy="420624"/>
          </a:xfrm>
          <a:prstGeom prst="ellipse">
            <a:avLst/>
          </a:prstGeom>
          <a:solidFill>
            <a:srgbClr val="0E7C86"/>
          </a:solidFill>
          <a:ln w="12700">
            <a:solidFill>
              <a:srgbClr val="333333"/>
            </a:solidFill>
            <a:prstDash val="solid"/>
          </a:ln>
        </p:spPr>
      </p:sp>
      <p:sp>
        <p:nvSpPr>
          <p:cNvPr id="4" name="Text 2"/>
          <p:cNvSpPr txBox="1"/>
          <p:nvPr/>
        </p:nvSpPr>
        <p:spPr>
          <a:xfrm>
            <a:off x="548640" y="13990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A</a:t>
            </a:r>
            <a:endParaRPr lang="en-US" sz="1500" dirty="0"/>
          </a:p>
        </p:txBody>
      </p:sp>
      <p:sp>
        <p:nvSpPr>
          <p:cNvPr id="5" name="Text 3"/>
          <p:cNvSpPr txBox="1"/>
          <p:nvPr/>
        </p:nvSpPr>
        <p:spPr>
          <a:xfrm>
            <a:off x="1143000" y="1325880"/>
            <a:ext cx="10424160" cy="365760"/>
          </a:xfrm>
          <a:prstGeom prst="rect">
            <a:avLst/>
          </a:prstGeom>
          <a:noFill/>
          <a:ln/>
        </p:spPr>
        <p:txBody>
          <a:bodyPr wrap="square" lIns="0" tIns="0" rIns="0" bIns="0" rtlCol="0" anchor="ctr"/>
          <a:lstStyle/>
          <a:p>
            <a:pPr indent="0" marL="0">
              <a:buNone/>
            </a:pPr>
            <a:r>
              <a:rPr lang="en-US" sz="1700" b="1" dirty="0">
                <a:solidFill>
                  <a:srgbClr val="0E3A42"/>
                </a:solidFill>
              </a:rPr>
              <a:t>Night mode, on its own button</a:t>
            </a:r>
            <a:endParaRPr lang="en-US" sz="1700" dirty="0"/>
          </a:p>
        </p:txBody>
      </p:sp>
      <p:sp>
        <p:nvSpPr>
          <p:cNvPr id="6" name="Text 4"/>
          <p:cNvSpPr txBox="1"/>
          <p:nvPr/>
        </p:nvSpPr>
        <p:spPr>
          <a:xfrm>
            <a:off x="1143000" y="1709928"/>
            <a:ext cx="10424160" cy="713232"/>
          </a:xfrm>
          <a:prstGeom prst="rect">
            <a:avLst/>
          </a:prstGeom>
          <a:noFill/>
          <a:ln/>
        </p:spPr>
        <p:txBody>
          <a:bodyPr wrap="square" lIns="0" tIns="0" rIns="0" bIns="0" rtlCol="0" anchor="t"/>
          <a:lstStyle/>
          <a:p>
            <a:pPr indent="0" marL="0">
              <a:buNone/>
            </a:pPr>
            <a:r>
              <a:rPr lang="en-US" sz="1350" dirty="0">
                <a:solidFill>
                  <a:schemeClr val="tx2"/>
                </a:solidFill>
              </a:rPr>
              <a:t>One press turns the whole house and street dark. The daylight goes, a dim moon comes up, the ceiling lamps come on brighter, eight lamp posts and fourteen street lights light up, and nine windows glow from inside. Bad light causes falls on its own, so the two rooms that are meant to be dim stay dim.</a:t>
            </a:r>
            <a:endParaRPr lang="en-US" sz="1350" dirty="0"/>
          </a:p>
        </p:txBody>
      </p:sp>
      <p:sp>
        <p:nvSpPr>
          <p:cNvPr id="7" name="chip-53"/>
          <p:cNvSpPr/>
          <p:nvPr/>
        </p:nvSpPr>
        <p:spPr>
          <a:xfrm>
            <a:off x="548640" y="2587752"/>
            <a:ext cx="420624" cy="420624"/>
          </a:xfrm>
          <a:prstGeom prst="ellipse">
            <a:avLst/>
          </a:prstGeom>
          <a:solidFill>
            <a:srgbClr val="0E7C86"/>
          </a:solidFill>
          <a:ln w="12700">
            <a:solidFill>
              <a:srgbClr val="333333"/>
            </a:solidFill>
            <a:prstDash val="solid"/>
          </a:ln>
        </p:spPr>
      </p:sp>
      <p:sp>
        <p:nvSpPr>
          <p:cNvPr id="8" name="Text 6"/>
          <p:cNvSpPr txBox="1"/>
          <p:nvPr/>
        </p:nvSpPr>
        <p:spPr>
          <a:xfrm>
            <a:off x="548640" y="25877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B</a:t>
            </a:r>
            <a:endParaRPr lang="en-US" sz="1500" dirty="0"/>
          </a:p>
        </p:txBody>
      </p:sp>
      <p:sp>
        <p:nvSpPr>
          <p:cNvPr id="9" name="Text 7"/>
          <p:cNvSpPr txBox="1"/>
          <p:nvPr/>
        </p:nvSpPr>
        <p:spPr>
          <a:xfrm>
            <a:off x="1143000" y="2514600"/>
            <a:ext cx="10424160" cy="365760"/>
          </a:xfrm>
          <a:prstGeom prst="rect">
            <a:avLst/>
          </a:prstGeom>
          <a:noFill/>
          <a:ln/>
        </p:spPr>
        <p:txBody>
          <a:bodyPr wrap="square" lIns="0" tIns="0" rIns="0" bIns="0" rtlCol="0" anchor="ctr"/>
          <a:lstStyle/>
          <a:p>
            <a:pPr indent="0" marL="0">
              <a:buNone/>
            </a:pPr>
            <a:r>
              <a:rPr lang="en-US" sz="1700" b="1" dirty="0">
                <a:solidFill>
                  <a:srgbClr val="0E3A42"/>
                </a:solidFill>
              </a:rPr>
              <a:t>Walls you cannot walk through</a:t>
            </a:r>
            <a:endParaRPr lang="en-US" sz="1700" dirty="0"/>
          </a:p>
        </p:txBody>
      </p:sp>
      <p:sp>
        <p:nvSpPr>
          <p:cNvPr id="10" name="Text 8"/>
          <p:cNvSpPr txBox="1"/>
          <p:nvPr/>
        </p:nvSpPr>
        <p:spPr>
          <a:xfrm>
            <a:off x="1143000" y="2898648"/>
            <a:ext cx="10424160" cy="713232"/>
          </a:xfrm>
          <a:prstGeom prst="rect">
            <a:avLst/>
          </a:prstGeom>
          <a:noFill/>
          <a:ln/>
        </p:spPr>
        <p:txBody>
          <a:bodyPr wrap="square" lIns="0" tIns="0" rIns="0" bIns="0" rtlCol="0" anchor="t"/>
          <a:lstStyle/>
          <a:p>
            <a:pPr indent="0" marL="0">
              <a:buNone/>
            </a:pPr>
            <a:r>
              <a:rPr lang="en-US" sz="1350" dirty="0">
                <a:solidFill>
                  <a:schemeClr val="tx2"/>
                </a:solidFill>
              </a:rPr>
              <a:t>You now slide along whatever you walk into instead of going through it, so a wall is a wall. Cars measure the gap from their bumper rather than their middle, and brake for anyone standing in the road.</a:t>
            </a:r>
            <a:endParaRPr lang="en-US" sz="1350" dirty="0"/>
          </a:p>
        </p:txBody>
      </p:sp>
      <p:sp>
        <p:nvSpPr>
          <p:cNvPr id="11" name="chip-54"/>
          <p:cNvSpPr/>
          <p:nvPr/>
        </p:nvSpPr>
        <p:spPr>
          <a:xfrm>
            <a:off x="548640" y="3776472"/>
            <a:ext cx="420624" cy="420624"/>
          </a:xfrm>
          <a:prstGeom prst="ellipse">
            <a:avLst/>
          </a:prstGeom>
          <a:solidFill>
            <a:srgbClr val="0E7C86"/>
          </a:solidFill>
          <a:ln w="12700">
            <a:solidFill>
              <a:srgbClr val="333333"/>
            </a:solidFill>
            <a:prstDash val="solid"/>
          </a:ln>
        </p:spPr>
      </p:sp>
      <p:sp>
        <p:nvSpPr>
          <p:cNvPr id="12" name="Text 10"/>
          <p:cNvSpPr txBox="1"/>
          <p:nvPr/>
        </p:nvSpPr>
        <p:spPr>
          <a:xfrm>
            <a:off x="548640" y="37764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C</a:t>
            </a:r>
            <a:endParaRPr lang="en-US" sz="1500" dirty="0"/>
          </a:p>
        </p:txBody>
      </p:sp>
      <p:sp>
        <p:nvSpPr>
          <p:cNvPr id="13" name="Text 11"/>
          <p:cNvSpPr txBox="1"/>
          <p:nvPr/>
        </p:nvSpPr>
        <p:spPr>
          <a:xfrm>
            <a:off x="1143000" y="3703320"/>
            <a:ext cx="10424160" cy="365760"/>
          </a:xfrm>
          <a:prstGeom prst="rect">
            <a:avLst/>
          </a:prstGeom>
          <a:noFill/>
          <a:ln/>
        </p:spPr>
        <p:txBody>
          <a:bodyPr wrap="square" lIns="0" tIns="0" rIns="0" bIns="0" rtlCol="0" anchor="ctr"/>
          <a:lstStyle/>
          <a:p>
            <a:pPr indent="0" marL="0">
              <a:buNone/>
            </a:pPr>
            <a:r>
              <a:rPr lang="en-US" sz="1700" b="1" dirty="0">
                <a:solidFill>
                  <a:srgbClr val="0E3A42"/>
                </a:solidFill>
              </a:rPr>
              <a:t>The crossing, in both directions</a:t>
            </a:r>
            <a:endParaRPr lang="en-US" sz="1700" dirty="0"/>
          </a:p>
        </p:txBody>
      </p:sp>
      <p:sp>
        <p:nvSpPr>
          <p:cNvPr id="14" name="Text 12"/>
          <p:cNvSpPr txBox="1"/>
          <p:nvPr/>
        </p:nvSpPr>
        <p:spPr>
          <a:xfrm>
            <a:off x="1143000" y="4087368"/>
            <a:ext cx="10424160" cy="713232"/>
          </a:xfrm>
          <a:prstGeom prst="rect">
            <a:avLst/>
          </a:prstGeom>
          <a:noFill/>
          <a:ln/>
        </p:spPr>
        <p:txBody>
          <a:bodyPr wrap="square" lIns="0" tIns="0" rIns="0" bIns="0" rtlCol="0" anchor="t"/>
          <a:lstStyle/>
          <a:p>
            <a:pPr indent="0" marL="0">
              <a:buNone/>
            </a:pPr>
            <a:r>
              <a:rPr lang="en-US" sz="1350" dirty="0">
                <a:solidFill>
                  <a:schemeClr val="tx2"/>
                </a:solidFill>
              </a:rPr>
              <a:t>Reaching the far pavement sets the crossing up again the other way, with the rings renamed for the way back. Getting there was only ever half the trip.</a:t>
            </a:r>
            <a:endParaRPr lang="en-US" sz="1350" dirty="0"/>
          </a:p>
        </p:txBody>
      </p:sp>
      <p:sp>
        <p:nvSpPr>
          <p:cNvPr id="15" name="chip-55"/>
          <p:cNvSpPr/>
          <p:nvPr/>
        </p:nvSpPr>
        <p:spPr>
          <a:xfrm>
            <a:off x="548640" y="4965192"/>
            <a:ext cx="420624" cy="420624"/>
          </a:xfrm>
          <a:prstGeom prst="ellipse">
            <a:avLst/>
          </a:prstGeom>
          <a:solidFill>
            <a:srgbClr val="0E7C86"/>
          </a:solidFill>
          <a:ln w="12700">
            <a:solidFill>
              <a:srgbClr val="333333"/>
            </a:solidFill>
            <a:prstDash val="solid"/>
          </a:ln>
        </p:spPr>
      </p:sp>
      <p:sp>
        <p:nvSpPr>
          <p:cNvPr id="16" name="Text 14"/>
          <p:cNvSpPr txBox="1"/>
          <p:nvPr/>
        </p:nvSpPr>
        <p:spPr>
          <a:xfrm>
            <a:off x="548640" y="496519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D</a:t>
            </a:r>
            <a:endParaRPr lang="en-US" sz="1500" dirty="0"/>
          </a:p>
        </p:txBody>
      </p:sp>
      <p:sp>
        <p:nvSpPr>
          <p:cNvPr id="17" name="Text 15"/>
          <p:cNvSpPr txBox="1"/>
          <p:nvPr/>
        </p:nvSpPr>
        <p:spPr>
          <a:xfrm>
            <a:off x="1143000" y="4892040"/>
            <a:ext cx="10424160" cy="365760"/>
          </a:xfrm>
          <a:prstGeom prst="rect">
            <a:avLst/>
          </a:prstGeom>
          <a:noFill/>
          <a:ln/>
        </p:spPr>
        <p:txBody>
          <a:bodyPr wrap="square" lIns="0" tIns="0" rIns="0" bIns="0" rtlCol="0" anchor="ctr"/>
          <a:lstStyle/>
          <a:p>
            <a:pPr indent="0" marL="0">
              <a:buNone/>
            </a:pPr>
            <a:r>
              <a:rPr lang="en-US" sz="1700" b="1" dirty="0">
                <a:solidFill>
                  <a:srgbClr val="0E3A42"/>
                </a:solidFill>
              </a:rPr>
              <a:t>A street with people on it</a:t>
            </a:r>
            <a:endParaRPr lang="en-US" sz="1700" dirty="0"/>
          </a:p>
        </p:txBody>
      </p:sp>
      <p:sp>
        <p:nvSpPr>
          <p:cNvPr id="18" name="Text 16"/>
          <p:cNvSpPr txBox="1"/>
          <p:nvPr/>
        </p:nvSpPr>
        <p:spPr>
          <a:xfrm>
            <a:off x="1143000" y="5276088"/>
            <a:ext cx="10424160" cy="713232"/>
          </a:xfrm>
          <a:prstGeom prst="rect">
            <a:avLst/>
          </a:prstGeom>
          <a:noFill/>
          <a:ln/>
        </p:spPr>
        <p:txBody>
          <a:bodyPr wrap="square" lIns="0" tIns="0" rIns="0" bIns="0" rtlCol="0" anchor="t"/>
          <a:lstStyle/>
          <a:p>
            <a:pPr indent="0" marL="0">
              <a:buNone/>
            </a:pPr>
            <a:r>
              <a:rPr lang="en-US" sz="1350" dirty="0">
                <a:solidFill>
                  <a:schemeClr val="tx2"/>
                </a:solidFill>
              </a:rPr>
              <a:t>Seven houses, a street tree, a drain, wet leaves, and four people who walk their own routes, wait at the kerb for the green man, and step out of your way.</a:t>
            </a:r>
            <a:endParaRPr lang="en-US" sz="1350" dirty="0"/>
          </a:p>
        </p:txBody>
      </p:sp>
      <p:sp>
        <p:nvSpPr>
          <p:cNvPr id="19" name="Text 17"/>
          <p:cNvSpPr txBox="1"/>
          <p:nvPr/>
        </p:nvSpPr>
        <p:spPr>
          <a:xfrm>
            <a:off x="548640" y="5943600"/>
            <a:ext cx="11064240" cy="320040"/>
          </a:xfrm>
          <a:prstGeom prst="rect">
            <a:avLst/>
          </a:prstGeom>
          <a:noFill/>
          <a:ln/>
        </p:spPr>
        <p:txBody>
          <a:bodyPr wrap="square" lIns="0" tIns="0" rIns="0" bIns="0" rtlCol="0" anchor="ctr"/>
          <a:lstStyle/>
          <a:p>
            <a:pPr indent="0" marL="0">
              <a:buNone/>
            </a:pPr>
            <a:r>
              <a:rPr lang="en-US" sz="1300" i="1" dirty="0">
                <a:solidFill>
                  <a:schemeClr val="tx2"/>
                </a:solidFill>
              </a:rPr>
              <a:t>Also on the wall: a button you press twice to clear the saved scores, and a voice that talks about the room you are actually standing in.</a:t>
            </a:r>
            <a:endParaRPr lang="en-US" sz="1300" dirty="0"/>
          </a:p>
        </p:txBody>
      </p:sp>
      <p:sp>
        <p:nvSpPr>
          <p:cNvPr id="25" name="Slide Number Placeholder 0"/>
          <p:cNvSpPr>
            <a:spLocks noGrp="1"/>
          </p:cNvSpPr>
          <p:nvPr>
            <p:ph type="sldNum" sz="quarter" idx="4294967295"/>
          </p:nvPr>
        </p:nvSpPr>
        <p:spPr>
          <a:xfrm>
            <a:off x="1143000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7A80"/>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Fall Prevention VR">
  <a:themeElements>
    <a:clrScheme name="Fall Prevention VR">
      <a:dk1>
        <a:srgbClr val="16262B"/>
      </a:dk1>
      <a:lt1>
        <a:srgbClr val="FFFFFF"/>
      </a:lt1>
      <a:dk2>
        <a:srgbClr val="0E3A42"/>
      </a:dk2>
      <a:lt2>
        <a:srgbClr val="EEF3F4"/>
      </a:lt2>
      <a:accent1>
        <a:srgbClr val="0E7C86"/>
      </a:accent1>
      <a:accent2>
        <a:srgbClr val="F2A93B"/>
      </a:accent2>
      <a:accent3>
        <a:srgbClr val="2E9E5B"/>
      </a:accent3>
      <a:accent4>
        <a:srgbClr val="C4493D"/>
      </a:accent4>
      <a:accent5>
        <a:srgbClr val="5A7A80"/>
      </a:accent5>
      <a:accent6>
        <a:srgbClr val="8FB8BE"/>
      </a:accent6>
      <a:hlink>
        <a:srgbClr val="0E7C86"/>
      </a:hlink>
      <a:folHlink>
        <a:srgbClr val="5A7A80"/>
      </a:folHlink>
    </a:clrScheme>
    <a:fontScheme name="Fall Prevention V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VR Fall-Prevention Training Simulator</dc:title>
  <dc:subject>PptxGenJS Presentation</dc:subject>
  <dc:creator>Sanjesh Nandha K</dc:creator>
  <cp:lastModifiedBy>Sanjesh Nandha K</cp:lastModifiedBy>
  <cp:revision>1</cp:revision>
  <dcterms:created xsi:type="dcterms:W3CDTF">2026-10-04T16:55:40Z</dcterms:created>
  <dcterms:modified xsi:type="dcterms:W3CDTF">2026-10-04T16:55:40Z</dcterms:modified>
</cp:coreProperties>
</file>